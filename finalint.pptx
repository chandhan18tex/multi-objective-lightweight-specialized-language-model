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autoCompressPictures="0">
  <p:sldMasterIdLst>
    <p:sldMasterId id="2147483648" r:id="rId1"/>
  </p:sldMasterIdLst>
  <p:notesMasterIdLst>
    <p:notesMasterId r:id="rId23"/>
  </p:notesMasterIdLst>
  <p:sldIdLst>
    <p:sldId id="353" r:id="rId2"/>
    <p:sldId id="257" r:id="rId3"/>
    <p:sldId id="258" r:id="rId4"/>
    <p:sldId id="259" r:id="rId5"/>
    <p:sldId id="320" r:id="rId6"/>
    <p:sldId id="319" r:id="rId7"/>
    <p:sldId id="321" r:id="rId8"/>
    <p:sldId id="322" r:id="rId9"/>
    <p:sldId id="323" r:id="rId10"/>
    <p:sldId id="265" r:id="rId11"/>
    <p:sldId id="266" r:id="rId12"/>
    <p:sldId id="269" r:id="rId13"/>
    <p:sldId id="270" r:id="rId14"/>
    <p:sldId id="271" r:id="rId15"/>
    <p:sldId id="272" r:id="rId16"/>
    <p:sldId id="277" r:id="rId17"/>
    <p:sldId id="326" r:id="rId18"/>
    <p:sldId id="355" r:id="rId19"/>
    <p:sldId id="340" r:id="rId20"/>
    <p:sldId id="354" r:id="rId21"/>
    <p:sldId id="34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showGuides="1">
      <p:cViewPr>
        <p:scale>
          <a:sx n="95" d="100"/>
          <a:sy n="95" d="100"/>
        </p:scale>
        <p:origin x="53" y="-134"/>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0E1716-67B8-4AE4-BA2D-3B98FD2B6016}" type="datetimeFigureOut">
              <a:rPr lang="en-IN" smtClean="0"/>
              <a:t>10-04-2026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67876E-8240-45F8-8CAD-C0E25668F6C0}" type="slidenum">
              <a:rPr lang="en-IN" smtClean="0"/>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3C5B1B3C-52D3-4494-AB9E-E2F304D5210A}" type="datetime1">
              <a:rPr lang="en-IN" smtClean="0"/>
              <a:t>10-04-2026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5DBFA6B-6BFA-499F-8D78-802DDEC96E8C}" type="slidenum">
              <a:rPr lang="en-IN" smtClean="0"/>
              <a:t>‹#›</a:t>
            </a:fld>
            <a:endParaRPr lang="en-IN"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536F1408-C02F-4F20-B121-74FE11D661A5}" type="datetime1">
              <a:rPr lang="en-IN" smtClean="0"/>
              <a:t>10-04-2026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5DBFA6B-6BFA-499F-8D78-802DDEC96E8C}" type="slidenum">
              <a:rPr lang="en-IN" smtClean="0"/>
              <a:t>‹#›</a:t>
            </a:fld>
            <a:endParaRPr lang="en-IN"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32FAB87-E531-49B9-83A5-5F9ADB75F80F}" type="datetime1">
              <a:rPr lang="en-IN" smtClean="0"/>
              <a:t>10-04-2026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5DBFA6B-6BFA-499F-8D78-802DDEC96E8C}" type="slidenum">
              <a:rPr lang="en-IN" smtClean="0"/>
              <a:t>‹#›</a:t>
            </a:fld>
            <a:endParaRPr lang="en-IN"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DFF21BD2-D134-4622-8BFD-455774F7CA56}" type="datetime1">
              <a:rPr lang="en-IN" smtClean="0"/>
              <a:t>10-04-2026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5DBFA6B-6BFA-499F-8D78-802DDEC96E8C}" type="slidenum">
              <a:rPr lang="en-IN" smtClean="0"/>
              <a:t>‹#›</a:t>
            </a:fld>
            <a:endParaRPr lang="en-IN"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3EFC449C-F9F2-49A3-9A8E-359A58031C7B}" type="datetime1">
              <a:rPr lang="en-IN" smtClean="0"/>
              <a:t>10-04-2026</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D5DBFA6B-6BFA-499F-8D78-802DDEC96E8C}" type="slidenum">
              <a:rPr lang="en-IN" smtClean="0"/>
              <a:t>‹#›</a:t>
            </a:fld>
            <a:endParaRPr lang="en-IN"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945C4050-A236-41FA-9946-EAB0299A741D}" type="datetime1">
              <a:rPr lang="en-IN" smtClean="0"/>
              <a:t>10-04-2026</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D5DBFA6B-6BFA-499F-8D78-802DDEC96E8C}" type="slidenum">
              <a:rPr lang="en-IN" smtClean="0"/>
              <a:t>‹#›</a:t>
            </a:fld>
            <a:endParaRPr lang="en-IN"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C6E4E27-AFEA-4FB4-BF70-7B96731AAD5D}" type="datetime1">
              <a:rPr lang="en-IN" smtClean="0"/>
              <a:t>10-04-2026</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D5DBFA6B-6BFA-499F-8D78-802DDEC96E8C}" type="slidenum">
              <a:rPr lang="en-IN" smtClean="0"/>
              <a:t>‹#›</a:t>
            </a:fld>
            <a:endParaRPr lang="en-IN"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A2D761DD-329B-44F1-B13F-7EA149164D6A}" type="datetime1">
              <a:rPr lang="en-IN" smtClean="0"/>
              <a:t>10-04-2026</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D5DBFA6B-6BFA-499F-8D78-802DDEC96E8C}" type="slidenum">
              <a:rPr lang="en-IN" smtClean="0"/>
              <a:t>‹#›</a:t>
            </a:fld>
            <a:endParaRPr lang="en-IN"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98DF918-7A5F-42DD-8875-2233CE733741}" type="datetime1">
              <a:rPr lang="en-IN" smtClean="0"/>
              <a:t>10-04-2026</a:t>
            </a:fld>
            <a:endParaRPr lang="en-IN"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DBFA6B-6BFA-499F-8D78-802DDEC96E8C}" type="slidenum">
              <a:rPr lang="en-IN" smtClean="0"/>
              <a:t>‹#›</a:t>
            </a:fld>
            <a:endParaRPr lang="en-IN"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EEF6E2E7-C4FC-4735-81CD-55D60D4DD20A}" type="datetime1">
              <a:rPr lang="en-IN" smtClean="0"/>
              <a:t>10-04-2026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5DBFA6B-6BFA-499F-8D78-802DDEC96E8C}" type="slidenum">
              <a:rPr lang="en-IN" smtClean="0"/>
              <a:t>‹#›</a:t>
            </a:fld>
            <a:endParaRPr lang="en-IN"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B05B9A0-E280-4300-8BFD-A6E992143507}" type="datetime1">
              <a:rPr lang="en-IN" smtClean="0"/>
              <a:t>10-04-2026</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D5DBFA6B-6BFA-499F-8D78-802DDEC96E8C}" type="slidenum">
              <a:rPr lang="en-IN" smtClean="0"/>
              <a:t>‹#›</a:t>
            </a:fld>
            <a:endParaRPr lang="en-IN"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0B3C18C-78D0-460E-9BB4-CAAB83E24860}" type="datetime1">
              <a:rPr lang="en-IN" smtClean="0"/>
              <a:t>10-04-2026</a:t>
            </a:fld>
            <a:endParaRPr lang="en-IN"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DBFA6B-6BFA-499F-8D78-802DDEC96E8C}" type="slidenum">
              <a:rPr lang="en-IN" smtClean="0"/>
              <a:t>‹#›</a:t>
            </a:fld>
            <a:endParaRPr lang="en-IN"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292225" y="301625"/>
            <a:ext cx="9144000" cy="2387600"/>
          </a:xfrm>
        </p:spPr>
        <p:txBody>
          <a:bodyPr>
            <a:normAutofit fontScale="90000"/>
          </a:bodyPr>
          <a:lstStyle/>
          <a:p>
            <a:r>
              <a:rPr lang="en-US" sz="6000" b="1" dirty="0">
                <a:effectLst/>
                <a:latin typeface="Times New Roman" panose="02020603050405020304" pitchFamily="18" charset="0"/>
                <a:ea typeface="Calibri" panose="020F0502020204030204" pitchFamily="34" charset="0"/>
              </a:rPr>
              <a:t>Multi-Objective Lightweight Specialized Language Models</a:t>
            </a:r>
            <a:endParaRPr lang="en-IN" dirty="0"/>
          </a:p>
        </p:txBody>
      </p:sp>
      <p:sp>
        <p:nvSpPr>
          <p:cNvPr id="3" name="Text Box 2"/>
          <p:cNvSpPr txBox="1"/>
          <p:nvPr/>
        </p:nvSpPr>
        <p:spPr>
          <a:xfrm>
            <a:off x="1292225" y="2907176"/>
            <a:ext cx="9073515" cy="3323987"/>
          </a:xfrm>
          <a:prstGeom prst="rect">
            <a:avLst/>
          </a:prstGeom>
          <a:noFill/>
        </p:spPr>
        <p:txBody>
          <a:bodyPr wrap="square" rtlCol="0">
            <a:spAutoFit/>
          </a:bodyPr>
          <a:lstStyle/>
          <a:p>
            <a:pPr algn="ctr"/>
            <a:r>
              <a:rPr lang="en-IN" altLang="en-US" sz="2400" b="1" dirty="0"/>
              <a:t>Internship Project | GITAM University| Batch no:16</a:t>
            </a:r>
          </a:p>
          <a:p>
            <a:pPr algn="ctr"/>
            <a:endParaRPr lang="en-IN" altLang="en-US" sz="2400" b="1" dirty="0"/>
          </a:p>
          <a:p>
            <a:pPr algn="ctr"/>
            <a:r>
              <a:rPr lang="en-IN" altLang="en-US" b="1" dirty="0" err="1"/>
              <a:t>T.Kiran</a:t>
            </a:r>
            <a:r>
              <a:rPr lang="en-IN" altLang="en-US" b="1" dirty="0"/>
              <a:t> Kumar,   (2023002462)</a:t>
            </a:r>
          </a:p>
          <a:p>
            <a:pPr algn="ctr"/>
            <a:r>
              <a:rPr lang="en-IN" altLang="en-US" b="1" dirty="0" err="1"/>
              <a:t>K.Chandhan</a:t>
            </a:r>
            <a:r>
              <a:rPr lang="en-IN" altLang="en-US" b="1" dirty="0"/>
              <a:t> Sai,(2023004196)</a:t>
            </a:r>
          </a:p>
          <a:p>
            <a:pPr algn="ctr"/>
            <a:r>
              <a:rPr lang="en-IN" altLang="en-US" b="1" dirty="0" err="1"/>
              <a:t>G.Sai</a:t>
            </a:r>
            <a:r>
              <a:rPr lang="en-IN" altLang="en-US" b="1" dirty="0"/>
              <a:t> </a:t>
            </a:r>
            <a:r>
              <a:rPr lang="en-IN" altLang="en-US" b="1" dirty="0" err="1"/>
              <a:t>Thrishul</a:t>
            </a:r>
            <a:r>
              <a:rPr lang="en-IN" altLang="en-US" b="1" dirty="0"/>
              <a:t>,    (2023002221)</a:t>
            </a:r>
          </a:p>
          <a:p>
            <a:pPr algn="ctr"/>
            <a:r>
              <a:rPr lang="en-IN" altLang="en-US" b="1" dirty="0"/>
              <a:t>Vasu Reddy K S, (2023002549)</a:t>
            </a:r>
          </a:p>
          <a:p>
            <a:pPr algn="ctr"/>
            <a:endParaRPr lang="en-IN" altLang="en-US" b="1" dirty="0"/>
          </a:p>
          <a:p>
            <a:pPr algn="ctr"/>
            <a:endParaRPr lang="en-IN" altLang="en-US" b="1" dirty="0"/>
          </a:p>
          <a:p>
            <a:pPr algn="ctr"/>
            <a:endParaRPr lang="en-IN" altLang="en-US" b="1" dirty="0"/>
          </a:p>
          <a:p>
            <a:pPr algn="ctr"/>
            <a:endParaRPr lang="en-IN" altLang="en-US" b="1" dirty="0"/>
          </a:p>
          <a:p>
            <a:pPr algn="ctr"/>
            <a:endParaRPr lang="en-IN" altLang="en-US"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93204" y="376582"/>
            <a:ext cx="10609082" cy="1325563"/>
          </a:xfrm>
        </p:spPr>
        <p:txBody>
          <a:bodyPr/>
          <a:lstStyle/>
          <a:p>
            <a:r>
              <a:rPr lang="en-US" dirty="0">
                <a:latin typeface="Times New Roman" panose="02020603050405020304" pitchFamily="18" charset="0"/>
                <a:cs typeface="Times New Roman" panose="02020603050405020304" pitchFamily="18" charset="0"/>
              </a:rPr>
              <a:t>Contents</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18961" y="1640264"/>
            <a:ext cx="10583325" cy="4178372"/>
          </a:xfrm>
        </p:spPr>
        <p:txBody>
          <a:bodyPr>
            <a:noAutofit/>
          </a:bodyPr>
          <a:lstStyle/>
          <a:p>
            <a:r>
              <a:rPr lang="en-US" sz="1800" dirty="0">
                <a:latin typeface="Times New Roman" panose="02020603050405020304" pitchFamily="18" charset="0"/>
                <a:cs typeface="Times New Roman" panose="02020603050405020304" pitchFamily="18" charset="0"/>
              </a:rPr>
              <a:t>Abstract</a:t>
            </a:r>
          </a:p>
          <a:p>
            <a:r>
              <a:rPr lang="en-US" sz="1800" dirty="0">
                <a:latin typeface="Times New Roman" panose="02020603050405020304" pitchFamily="18" charset="0"/>
                <a:cs typeface="Times New Roman" panose="02020603050405020304" pitchFamily="18" charset="0"/>
              </a:rPr>
              <a:t>Introduction</a:t>
            </a:r>
          </a:p>
          <a:p>
            <a:r>
              <a:rPr lang="en-US" sz="1800" dirty="0">
                <a:latin typeface="Times New Roman" panose="02020603050405020304" pitchFamily="18" charset="0"/>
                <a:cs typeface="Times New Roman" panose="02020603050405020304" pitchFamily="18" charset="0"/>
              </a:rPr>
              <a:t>Literature Survey</a:t>
            </a:r>
          </a:p>
          <a:p>
            <a:r>
              <a:rPr lang="en-US" sz="1800" dirty="0">
                <a:latin typeface="Times New Roman" panose="02020603050405020304" pitchFamily="18" charset="0"/>
                <a:cs typeface="Times New Roman" panose="02020603050405020304" pitchFamily="18" charset="0"/>
              </a:rPr>
              <a:t>Problem Statement</a:t>
            </a:r>
          </a:p>
          <a:p>
            <a:r>
              <a:rPr lang="en-US" sz="1800" dirty="0">
                <a:latin typeface="Times New Roman" panose="02020603050405020304" pitchFamily="18" charset="0"/>
                <a:cs typeface="Times New Roman" panose="02020603050405020304" pitchFamily="18" charset="0"/>
              </a:rPr>
              <a:t>Objectives</a:t>
            </a:r>
          </a:p>
          <a:p>
            <a:r>
              <a:rPr lang="en-US" sz="1800" dirty="0">
                <a:latin typeface="Times New Roman" panose="02020603050405020304" pitchFamily="18" charset="0"/>
                <a:cs typeface="Times New Roman" panose="02020603050405020304" pitchFamily="18" charset="0"/>
              </a:rPr>
              <a:t>Models</a:t>
            </a:r>
          </a:p>
          <a:p>
            <a:r>
              <a:rPr lang="en-US" sz="1800" dirty="0">
                <a:latin typeface="Times New Roman" panose="02020603050405020304" pitchFamily="18" charset="0"/>
                <a:cs typeface="Times New Roman" panose="02020603050405020304" pitchFamily="18" charset="0"/>
              </a:rPr>
              <a:t>Experimental Setup</a:t>
            </a:r>
          </a:p>
          <a:p>
            <a:r>
              <a:rPr lang="en-US" sz="1800" dirty="0">
                <a:latin typeface="Times New Roman" panose="02020603050405020304" pitchFamily="18" charset="0"/>
                <a:cs typeface="Times New Roman" panose="02020603050405020304" pitchFamily="18" charset="0"/>
              </a:rPr>
              <a:t>Results</a:t>
            </a:r>
          </a:p>
          <a:p>
            <a:r>
              <a:rPr lang="en-US" sz="1800" dirty="0">
                <a:latin typeface="Times New Roman" panose="02020603050405020304" pitchFamily="18" charset="0"/>
                <a:cs typeface="Times New Roman" panose="02020603050405020304" pitchFamily="18" charset="0"/>
              </a:rPr>
              <a:t>Conclusions and Future Work</a:t>
            </a:r>
          </a:p>
          <a:p>
            <a:r>
              <a:rPr lang="en-US" sz="1800" dirty="0">
                <a:latin typeface="Times New Roman" panose="02020603050405020304" pitchFamily="18" charset="0"/>
                <a:cs typeface="Times New Roman" panose="02020603050405020304" pitchFamily="18" charset="0"/>
              </a:rPr>
              <a:t>References</a:t>
            </a:r>
          </a:p>
        </p:txBody>
      </p:sp>
      <p:sp>
        <p:nvSpPr>
          <p:cNvPr id="4" name="Slide Number Placeholder 3"/>
          <p:cNvSpPr>
            <a:spLocks noGrp="1"/>
          </p:cNvSpPr>
          <p:nvPr>
            <p:ph type="sldNum" sz="quarter" idx="12"/>
          </p:nvPr>
        </p:nvSpPr>
        <p:spPr/>
        <p:txBody>
          <a:bodyPr/>
          <a:lstStyle/>
          <a:p>
            <a:fld id="{D5DBFA6B-6BFA-499F-8D78-802DDEC96E8C}" type="slidenum">
              <a:rPr lang="en-IN" smtClean="0"/>
              <a:t>2</a:t>
            </a:fld>
            <a:endParaRPr lang="en-IN"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Abstract	</a:t>
            </a:r>
            <a:endParaRPr lang="en-IN"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8200" y="1825625"/>
            <a:ext cx="10515600" cy="4488548"/>
          </a:xfrm>
        </p:spPr>
        <p:txBody>
          <a:bodyPr>
            <a:normAutofit/>
          </a:bodyPr>
          <a:lstStyle/>
          <a:p>
            <a:pPr marL="0" indent="0">
              <a:buNone/>
            </a:pPr>
            <a:r>
              <a:rPr lang="en-US" sz="1800" dirty="0">
                <a:latin typeface="Times New Roman" panose="02020603050405020304" pitchFamily="18" charset="0"/>
                <a:cs typeface="Times New Roman" panose="02020603050405020304" pitchFamily="18" charset="0"/>
              </a:rPr>
              <a:t>Large Language Models such as BERT and GPT deliver excellent performance in Natural Language Processing (NLP) tasks; however, their large size and high computational requirements limit their use in mobile and real-time applications.</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This project applies model compression techniques to reduce model size and improve inference speed while maintaining acceptable accuracy. Techniques including Pruning, Quantization (INT8), and Knowledge Distillation are used to optimize the model.</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The AG News dataset, consisting of four categories, is used for evaluation, with BERT-Tiny as the base model. Performance is evaluated using Accuracy, Inference Speed (Latency), and Model Size.</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Results highlight a clear trade-off between accuracy and efficiency, illustrated using a Pareto Frontier. The study demonstrates that optimized models can be effectively deployed on resource-constrained and edge devices.</a:t>
            </a:r>
          </a:p>
        </p:txBody>
      </p:sp>
      <p:sp>
        <p:nvSpPr>
          <p:cNvPr id="4" name="Slide Number Placeholder 3"/>
          <p:cNvSpPr>
            <a:spLocks noGrp="1"/>
          </p:cNvSpPr>
          <p:nvPr>
            <p:ph type="sldNum" sz="quarter" idx="12"/>
          </p:nvPr>
        </p:nvSpPr>
        <p:spPr/>
        <p:txBody>
          <a:bodyPr/>
          <a:lstStyle/>
          <a:p>
            <a:fld id="{D5DBFA6B-6BFA-499F-8D78-802DDEC96E8C}" type="slidenum">
              <a:rPr lang="en-IN" smtClean="0"/>
              <a:t>3</a:t>
            </a:fld>
            <a:endParaRPr lang="en-IN"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7072"/>
            <a:ext cx="10515600" cy="980388"/>
          </a:xfrm>
        </p:spPr>
        <p:txBody>
          <a:bodyPr/>
          <a:lstStyle/>
          <a:p>
            <a:r>
              <a:rPr lang="en-US" dirty="0">
                <a:latin typeface="Times New Roman" panose="02020603050405020304" pitchFamily="18" charset="0"/>
              </a:rPr>
              <a:t>Introduction</a:t>
            </a:r>
          </a:p>
        </p:txBody>
      </p:sp>
      <p:sp>
        <p:nvSpPr>
          <p:cNvPr id="3" name="Content Placeholder 2"/>
          <p:cNvSpPr>
            <a:spLocks noGrp="1"/>
          </p:cNvSpPr>
          <p:nvPr>
            <p:ph idx="1"/>
          </p:nvPr>
        </p:nvSpPr>
        <p:spPr>
          <a:xfrm>
            <a:off x="838200" y="1434216"/>
            <a:ext cx="10515600" cy="4845378"/>
          </a:xfrm>
        </p:spPr>
        <p:txBody>
          <a:bodyPr>
            <a:normAutofit/>
          </a:bodyPr>
          <a:lstStyle/>
          <a:p>
            <a:pPr algn="just">
              <a:lnSpc>
                <a:spcPct val="115000"/>
              </a:lnSpc>
              <a:spcAft>
                <a:spcPts val="800"/>
              </a:spcAft>
            </a:pPr>
            <a:r>
              <a:rPr lang="en-US" sz="1800" dirty="0">
                <a:solidFill>
                  <a:srgbClr val="000000"/>
                </a:solidFill>
                <a:latin typeface="Times New Roman" panose="02020603050405020304" pitchFamily="18" charset="0"/>
              </a:rPr>
              <a:t>Large AI language models like BERT and GPT are very powerful in understanding and generating text.</a:t>
            </a:r>
          </a:p>
          <a:p>
            <a:pPr algn="just">
              <a:lnSpc>
                <a:spcPct val="115000"/>
              </a:lnSpc>
              <a:spcAft>
                <a:spcPts val="800"/>
              </a:spcAft>
            </a:pPr>
            <a:r>
              <a:rPr lang="en-US" sz="1800" dirty="0">
                <a:solidFill>
                  <a:srgbClr val="000000"/>
                </a:solidFill>
                <a:latin typeface="Times New Roman" panose="02020603050405020304" pitchFamily="18" charset="0"/>
              </a:rPr>
              <a:t>But these models are very big in size (hundreds of MB to GB) and need powerful computers to run.</a:t>
            </a:r>
          </a:p>
          <a:p>
            <a:pPr algn="just">
              <a:lnSpc>
                <a:spcPct val="115000"/>
              </a:lnSpc>
              <a:spcAft>
                <a:spcPts val="800"/>
              </a:spcAft>
            </a:pPr>
            <a:r>
              <a:rPr lang="en-US" sz="1800" dirty="0">
                <a:solidFill>
                  <a:srgbClr val="000000"/>
                </a:solidFill>
                <a:latin typeface="Times New Roman" panose="02020603050405020304" pitchFamily="18" charset="0"/>
              </a:rPr>
              <a:t>They are not suitable for mobile phones, edge devices, and real-time applications.</a:t>
            </a:r>
          </a:p>
          <a:p>
            <a:pPr algn="just">
              <a:lnSpc>
                <a:spcPct val="115000"/>
              </a:lnSpc>
              <a:spcAft>
                <a:spcPts val="800"/>
              </a:spcAft>
            </a:pPr>
            <a:r>
              <a:rPr lang="en-US" sz="1800" dirty="0">
                <a:solidFill>
                  <a:srgbClr val="000000"/>
                </a:solidFill>
                <a:latin typeface="Times New Roman" panose="02020603050405020304" pitchFamily="18" charset="0"/>
              </a:rPr>
              <a:t>The goal of this project is to make language models smaller, faster, and still accurate.</a:t>
            </a:r>
          </a:p>
          <a:p>
            <a:pPr algn="just">
              <a:lnSpc>
                <a:spcPct val="115000"/>
              </a:lnSpc>
              <a:spcAft>
                <a:spcPts val="800"/>
              </a:spcAft>
            </a:pPr>
            <a:r>
              <a:rPr lang="en-US" sz="1800" dirty="0">
                <a:solidFill>
                  <a:srgbClr val="000000"/>
                </a:solidFill>
                <a:latin typeface="Times New Roman" panose="02020603050405020304" pitchFamily="18" charset="0"/>
              </a:rPr>
              <a:t>We use three main techniques: Pruning, Quantization, and Knowledge Distillation.</a:t>
            </a:r>
          </a:p>
          <a:p>
            <a:pPr algn="just">
              <a:lnSpc>
                <a:spcPct val="115000"/>
              </a:lnSpc>
              <a:spcAft>
                <a:spcPts val="800"/>
              </a:spcAft>
            </a:pPr>
            <a:r>
              <a:rPr lang="en-US" sz="1800" dirty="0">
                <a:solidFill>
                  <a:srgbClr val="000000"/>
                </a:solidFill>
                <a:latin typeface="Times New Roman" panose="02020603050405020304" pitchFamily="18" charset="0"/>
              </a:rPr>
              <a:t>We compare the original model and optimized model using Accuracy, Speed, and Model Size.</a:t>
            </a:r>
          </a:p>
          <a:p>
            <a:pPr algn="just">
              <a:lnSpc>
                <a:spcPct val="115000"/>
              </a:lnSpc>
              <a:spcAft>
                <a:spcPts val="800"/>
              </a:spcAft>
            </a:pPr>
            <a:r>
              <a:rPr lang="en-US" sz="1800" dirty="0">
                <a:solidFill>
                  <a:srgbClr val="000000"/>
                </a:solidFill>
                <a:latin typeface="Times New Roman" panose="02020603050405020304" pitchFamily="18" charset="0"/>
              </a:rPr>
              <a:t>The best trade-off between these goals is shown using a Pareto Frontier graph.</a:t>
            </a:r>
          </a:p>
        </p:txBody>
      </p:sp>
      <p:sp>
        <p:nvSpPr>
          <p:cNvPr id="4" name="Slide Number Placeholder 3"/>
          <p:cNvSpPr>
            <a:spLocks noGrp="1"/>
          </p:cNvSpPr>
          <p:nvPr>
            <p:ph type="sldNum" sz="quarter" idx="12"/>
          </p:nvPr>
        </p:nvSpPr>
        <p:spPr/>
        <p:txBody>
          <a:bodyPr/>
          <a:lstStyle/>
          <a:p>
            <a:fld id="{D5DBFA6B-6BFA-499F-8D78-802DDEC96E8C}" type="slidenum">
              <a:rPr lang="en-IN" smtClean="0"/>
              <a:t>4</a:t>
            </a:fld>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7072"/>
            <a:ext cx="10515600" cy="980388"/>
          </a:xfrm>
        </p:spPr>
        <p:txBody>
          <a:bodyPr/>
          <a:lstStyle/>
          <a:p>
            <a:r>
              <a:rPr lang="en-US" dirty="0">
                <a:latin typeface="Times New Roman" panose="02020603050405020304" pitchFamily="18" charset="0"/>
              </a:rPr>
              <a:t>Literature Survey</a:t>
            </a:r>
          </a:p>
        </p:txBody>
      </p:sp>
      <p:sp>
        <p:nvSpPr>
          <p:cNvPr id="3" name="Content Placeholder 2"/>
          <p:cNvSpPr>
            <a:spLocks noGrp="1"/>
          </p:cNvSpPr>
          <p:nvPr>
            <p:ph idx="1"/>
          </p:nvPr>
        </p:nvSpPr>
        <p:spPr>
          <a:xfrm>
            <a:off x="838200" y="1434216"/>
            <a:ext cx="10515600" cy="4845378"/>
          </a:xfrm>
        </p:spPr>
        <p:txBody>
          <a:bodyPr>
            <a:normAutofit/>
          </a:bodyPr>
          <a:lstStyle/>
          <a:p>
            <a:pPr algn="just">
              <a:lnSpc>
                <a:spcPct val="115000"/>
              </a:lnSpc>
              <a:spcAft>
                <a:spcPts val="800"/>
              </a:spcAft>
            </a:pPr>
            <a:r>
              <a:rPr lang="en-US" sz="1800" dirty="0">
                <a:solidFill>
                  <a:srgbClr val="000000"/>
                </a:solidFill>
                <a:latin typeface="Times New Roman" panose="02020603050405020304" pitchFamily="18" charset="0"/>
              </a:rPr>
              <a:t>1. DistilBERT (Sanh et al., 2019) - DistilBERT is a smaller and faster version of BERT. It uses knowledge distillation to learn from the large BERT model. It keeps 97% of BERT accuracy but runs 60% faster.</a:t>
            </a:r>
          </a:p>
          <a:p>
            <a:pPr algn="just">
              <a:lnSpc>
                <a:spcPct val="115000"/>
              </a:lnSpc>
              <a:spcAft>
                <a:spcPts val="800"/>
              </a:spcAft>
            </a:pPr>
            <a:r>
              <a:rPr lang="en-US" sz="1800" dirty="0">
                <a:solidFill>
                  <a:srgbClr val="000000"/>
                </a:solidFill>
                <a:latin typeface="Times New Roman" panose="02020603050405020304" pitchFamily="18" charset="0"/>
              </a:rPr>
              <a:t>2. TinyBERT (Jiao et al., 2020) - TinyBERT is an even smaller BERT model made for mobile and edge devices. It uses a two-stage distillation process to compress the model. It achieves good performance on many NLP tasks.</a:t>
            </a:r>
          </a:p>
          <a:p>
            <a:pPr algn="just">
              <a:lnSpc>
                <a:spcPct val="115000"/>
              </a:lnSpc>
              <a:spcAft>
                <a:spcPts val="800"/>
              </a:spcAft>
            </a:pPr>
            <a:r>
              <a:rPr lang="en-US" sz="1800" dirty="0">
                <a:solidFill>
                  <a:srgbClr val="000000"/>
                </a:solidFill>
                <a:latin typeface="Times New Roman" panose="02020603050405020304" pitchFamily="18" charset="0"/>
              </a:rPr>
              <a:t>3. BERT (Devlin et al., 2019) - BERT is a large pre-trained transformer model. It gives excellent results on text classification, question answering, and other NLP tasks. But it has 110 million parameters and is slow for real-time use.</a:t>
            </a:r>
          </a:p>
        </p:txBody>
      </p:sp>
      <p:sp>
        <p:nvSpPr>
          <p:cNvPr id="4" name="Slide Number Placeholder 3"/>
          <p:cNvSpPr>
            <a:spLocks noGrp="1"/>
          </p:cNvSpPr>
          <p:nvPr>
            <p:ph type="sldNum" sz="quarter" idx="12"/>
          </p:nvPr>
        </p:nvSpPr>
        <p:spPr/>
        <p:txBody>
          <a:bodyPr/>
          <a:lstStyle/>
          <a:p>
            <a:fld id="{D5DBFA6B-6BFA-499F-8D78-802DDEC96E8C}" type="slidenum">
              <a:rPr lang="en-IN" smtClean="0"/>
              <a:t>5</a:t>
            </a:fld>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7072"/>
            <a:ext cx="10515600" cy="980388"/>
          </a:xfrm>
        </p:spPr>
        <p:txBody>
          <a:bodyPr/>
          <a:lstStyle/>
          <a:p>
            <a:r>
              <a:rPr lang="en-US" dirty="0">
                <a:latin typeface="Times New Roman" panose="02020603050405020304" pitchFamily="18" charset="0"/>
              </a:rPr>
              <a:t>Literature Survey</a:t>
            </a:r>
          </a:p>
        </p:txBody>
      </p:sp>
      <p:sp>
        <p:nvSpPr>
          <p:cNvPr id="3" name="Content Placeholder 2"/>
          <p:cNvSpPr>
            <a:spLocks noGrp="1"/>
          </p:cNvSpPr>
          <p:nvPr>
            <p:ph idx="1"/>
          </p:nvPr>
        </p:nvSpPr>
        <p:spPr>
          <a:xfrm>
            <a:off x="838200" y="1434216"/>
            <a:ext cx="10515600" cy="4845378"/>
          </a:xfrm>
        </p:spPr>
        <p:txBody>
          <a:bodyPr>
            <a:normAutofit/>
          </a:bodyPr>
          <a:lstStyle/>
          <a:p>
            <a:pPr algn="just">
              <a:lnSpc>
                <a:spcPct val="115000"/>
              </a:lnSpc>
              <a:spcAft>
                <a:spcPts val="800"/>
              </a:spcAft>
            </a:pPr>
            <a:r>
              <a:rPr lang="en-US" sz="1800" dirty="0">
                <a:solidFill>
                  <a:srgbClr val="000000"/>
                </a:solidFill>
                <a:latin typeface="Times New Roman" panose="02020603050405020304" pitchFamily="18" charset="0"/>
              </a:rPr>
              <a:t>4. Pruning (Han et al., 2015) - Pruning removes the least important weights from a neural network. It makes the model smaller without losing much accuracy. Types: structured and unstructured pruning.</a:t>
            </a:r>
          </a:p>
          <a:p>
            <a:pPr algn="just">
              <a:lnSpc>
                <a:spcPct val="115000"/>
              </a:lnSpc>
              <a:spcAft>
                <a:spcPts val="800"/>
              </a:spcAft>
            </a:pPr>
            <a:r>
              <a:rPr lang="en-US" sz="1800" dirty="0">
                <a:solidFill>
                  <a:srgbClr val="000000"/>
                </a:solidFill>
                <a:latin typeface="Times New Roman" panose="02020603050405020304" pitchFamily="18" charset="0"/>
              </a:rPr>
              <a:t>5. Quantization (Jacob et al., 2018) - Quantization reduces the precision of model weights (e.g., from 32-bit float to 8-bit integer). This reduces model size and speeds up inference on CPU and mobile devices.</a:t>
            </a:r>
          </a:p>
          <a:p>
            <a:pPr algn="just">
              <a:lnSpc>
                <a:spcPct val="115000"/>
              </a:lnSpc>
              <a:spcAft>
                <a:spcPts val="800"/>
              </a:spcAft>
            </a:pPr>
            <a:r>
              <a:rPr lang="en-US" sz="1800" dirty="0">
                <a:solidFill>
                  <a:srgbClr val="000000"/>
                </a:solidFill>
                <a:latin typeface="Times New Roman" panose="02020603050405020304" pitchFamily="18" charset="0"/>
              </a:rPr>
              <a:t>6. Knowledge Distillation (Hinton et al., 2015) - A small student model is trained to copy the behavior of a large teacher model. The student model becomes smaller but learns to perform similar to the teacher.</a:t>
            </a:r>
          </a:p>
        </p:txBody>
      </p:sp>
      <p:sp>
        <p:nvSpPr>
          <p:cNvPr id="4" name="Slide Number Placeholder 3"/>
          <p:cNvSpPr>
            <a:spLocks noGrp="1"/>
          </p:cNvSpPr>
          <p:nvPr>
            <p:ph type="sldNum" sz="quarter" idx="12"/>
          </p:nvPr>
        </p:nvSpPr>
        <p:spPr/>
        <p:txBody>
          <a:bodyPr/>
          <a:lstStyle/>
          <a:p>
            <a:fld id="{D5DBFA6B-6BFA-499F-8D78-802DDEC96E8C}" type="slidenum">
              <a:rPr lang="en-IN" smtClean="0"/>
              <a:t>6</a:t>
            </a:fld>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7072"/>
            <a:ext cx="10515600" cy="980388"/>
          </a:xfrm>
        </p:spPr>
        <p:txBody>
          <a:bodyPr/>
          <a:lstStyle/>
          <a:p>
            <a:r>
              <a:rPr lang="en-US" dirty="0">
                <a:latin typeface="Times New Roman" panose="02020603050405020304" pitchFamily="18" charset="0"/>
              </a:rPr>
              <a:t>Literature Survey</a:t>
            </a:r>
          </a:p>
        </p:txBody>
      </p:sp>
      <p:sp>
        <p:nvSpPr>
          <p:cNvPr id="3" name="Content Placeholder 2"/>
          <p:cNvSpPr>
            <a:spLocks noGrp="1"/>
          </p:cNvSpPr>
          <p:nvPr>
            <p:ph idx="1"/>
          </p:nvPr>
        </p:nvSpPr>
        <p:spPr>
          <a:xfrm>
            <a:off x="838200" y="1434216"/>
            <a:ext cx="10515600" cy="4845378"/>
          </a:xfrm>
        </p:spPr>
        <p:txBody>
          <a:bodyPr>
            <a:normAutofit/>
          </a:bodyPr>
          <a:lstStyle/>
          <a:p>
            <a:pPr algn="just">
              <a:lnSpc>
                <a:spcPct val="115000"/>
              </a:lnSpc>
              <a:spcAft>
                <a:spcPts val="800"/>
              </a:spcAft>
            </a:pPr>
            <a:r>
              <a:rPr lang="en-US" sz="1800" dirty="0">
                <a:solidFill>
                  <a:srgbClr val="000000"/>
                </a:solidFill>
                <a:latin typeface="Times New Roman" panose="02020603050405020304" pitchFamily="18" charset="0"/>
              </a:rPr>
              <a:t>7. Multi-Objective Optimization - In real world, we often need to optimize multiple goals at the same time. For AI models: we want high accuracy AND low latency AND small model size. These goals sometimes conflict with each other.</a:t>
            </a:r>
          </a:p>
          <a:p>
            <a:pPr algn="just">
              <a:lnSpc>
                <a:spcPct val="115000"/>
              </a:lnSpc>
              <a:spcAft>
                <a:spcPts val="800"/>
              </a:spcAft>
            </a:pPr>
            <a:r>
              <a:rPr lang="en-US" sz="1800" dirty="0">
                <a:solidFill>
                  <a:srgbClr val="000000"/>
                </a:solidFill>
                <a:latin typeface="Times New Roman" panose="02020603050405020304" pitchFamily="18" charset="0"/>
              </a:rPr>
              <a:t>8. Pareto Frontier Analysis - The Pareto Frontier is a graph that shows the best trade-off between two goals. Points on the Pareto Frontier cannot be improved in one goal without making another goal worse. It helps compare different models fairly.</a:t>
            </a:r>
          </a:p>
          <a:p>
            <a:pPr algn="just">
              <a:lnSpc>
                <a:spcPct val="115000"/>
              </a:lnSpc>
              <a:spcAft>
                <a:spcPts val="800"/>
              </a:spcAft>
            </a:pPr>
            <a:r>
              <a:rPr lang="en-US" sz="1800" dirty="0">
                <a:solidFill>
                  <a:srgbClr val="000000"/>
                </a:solidFill>
                <a:latin typeface="Times New Roman" panose="02020603050405020304" pitchFamily="18" charset="0"/>
              </a:rPr>
              <a:t>9. AG News Dataset - A popular text classification dataset with 4 news categories. Used widely for benchmarking NLP models. Contains World, Sports, Business, and Science/Technology news articles.</a:t>
            </a:r>
          </a:p>
        </p:txBody>
      </p:sp>
      <p:sp>
        <p:nvSpPr>
          <p:cNvPr id="4" name="Slide Number Placeholder 3"/>
          <p:cNvSpPr>
            <a:spLocks noGrp="1"/>
          </p:cNvSpPr>
          <p:nvPr>
            <p:ph type="sldNum" sz="quarter" idx="12"/>
          </p:nvPr>
        </p:nvSpPr>
        <p:spPr/>
        <p:txBody>
          <a:bodyPr/>
          <a:lstStyle/>
          <a:p>
            <a:fld id="{D5DBFA6B-6BFA-499F-8D78-802DDEC96E8C}" type="slidenum">
              <a:rPr lang="en-IN" smtClean="0"/>
              <a:t>7</a:t>
            </a:fld>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7072"/>
            <a:ext cx="10515600" cy="980388"/>
          </a:xfrm>
        </p:spPr>
        <p:txBody>
          <a:bodyPr/>
          <a:lstStyle/>
          <a:p>
            <a:r>
              <a:rPr lang="en-US" dirty="0">
                <a:latin typeface="Times New Roman" panose="02020603050405020304" pitchFamily="18" charset="0"/>
              </a:rPr>
              <a:t>Literature Survey</a:t>
            </a:r>
          </a:p>
        </p:txBody>
      </p:sp>
      <p:sp>
        <p:nvSpPr>
          <p:cNvPr id="3" name="Content Placeholder 2"/>
          <p:cNvSpPr>
            <a:spLocks noGrp="1"/>
          </p:cNvSpPr>
          <p:nvPr>
            <p:ph idx="1"/>
          </p:nvPr>
        </p:nvSpPr>
        <p:spPr>
          <a:xfrm>
            <a:off x="838200" y="1434216"/>
            <a:ext cx="10515600" cy="4845378"/>
          </a:xfrm>
        </p:spPr>
        <p:txBody>
          <a:bodyPr>
            <a:normAutofit/>
          </a:bodyPr>
          <a:lstStyle/>
          <a:p>
            <a:pPr algn="just">
              <a:lnSpc>
                <a:spcPct val="115000"/>
              </a:lnSpc>
              <a:spcAft>
                <a:spcPts val="800"/>
              </a:spcAft>
            </a:pPr>
            <a:r>
              <a:rPr lang="en-US" sz="1800" dirty="0">
                <a:solidFill>
                  <a:srgbClr val="000000"/>
                </a:solidFill>
                <a:latin typeface="Times New Roman" panose="02020603050405020304" pitchFamily="18" charset="0"/>
              </a:rPr>
              <a:t>10. Edge AI and On-Device Inference - Running AI models directly on devices like phones and IoT sensors is called Edge AI. It reduces latency, saves bandwidth, and protects privacy. But it needs very small and fast models.</a:t>
            </a:r>
          </a:p>
          <a:p>
            <a:pPr algn="just">
              <a:lnSpc>
                <a:spcPct val="115000"/>
              </a:lnSpc>
              <a:spcAft>
                <a:spcPts val="800"/>
              </a:spcAft>
            </a:pPr>
            <a:r>
              <a:rPr lang="en-US" sz="1800" dirty="0">
                <a:solidFill>
                  <a:srgbClr val="000000"/>
                </a:solidFill>
                <a:latin typeface="Times New Roman" panose="02020603050405020304" pitchFamily="18" charset="0"/>
              </a:rPr>
              <a:t>11. Model Compression Survey (Cheng et al., 2020) - This survey covers all major techniques to reduce deep learning model size. Techniques covered include pruning, quantization, and distillation. It also discusses trade-offs between compression level and accuracy.</a:t>
            </a:r>
          </a:p>
          <a:p>
            <a:pPr algn="just">
              <a:lnSpc>
                <a:spcPct val="115000"/>
              </a:lnSpc>
              <a:spcAft>
                <a:spcPts val="800"/>
              </a:spcAft>
            </a:pPr>
            <a:r>
              <a:rPr lang="en-US" sz="1800" dirty="0">
                <a:solidFill>
                  <a:srgbClr val="000000"/>
                </a:solidFill>
                <a:latin typeface="Times New Roman" panose="02020603050405020304" pitchFamily="18" charset="0"/>
              </a:rPr>
              <a:t>12. INT8 Quantization (PyTorch, 2021) - PyTorch provides dynamic quantization that converts model weights to 8-bit integers. This reduces memory usage and speeds up inference on CPU. It works well for transformer models like BERT.</a:t>
            </a:r>
          </a:p>
        </p:txBody>
      </p:sp>
      <p:sp>
        <p:nvSpPr>
          <p:cNvPr id="4" name="Slide Number Placeholder 3"/>
          <p:cNvSpPr>
            <a:spLocks noGrp="1"/>
          </p:cNvSpPr>
          <p:nvPr>
            <p:ph type="sldNum" sz="quarter" idx="12"/>
          </p:nvPr>
        </p:nvSpPr>
        <p:spPr/>
        <p:txBody>
          <a:bodyPr/>
          <a:lstStyle/>
          <a:p>
            <a:fld id="{D5DBFA6B-6BFA-499F-8D78-802DDEC96E8C}" type="slidenum">
              <a:rPr lang="en-IN" smtClean="0"/>
              <a:t>8</a:t>
            </a:fld>
            <a:endParaRPr lang="en-IN"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7072"/>
            <a:ext cx="10515600" cy="980388"/>
          </a:xfrm>
        </p:spPr>
        <p:txBody>
          <a:bodyPr/>
          <a:lstStyle/>
          <a:p>
            <a:r>
              <a:rPr lang="en-US" dirty="0">
                <a:latin typeface="Times New Roman" panose="02020603050405020304" pitchFamily="18" charset="0"/>
              </a:rPr>
              <a:t>Literature Survey</a:t>
            </a:r>
          </a:p>
        </p:txBody>
      </p:sp>
      <p:sp>
        <p:nvSpPr>
          <p:cNvPr id="3" name="Content Placeholder 2"/>
          <p:cNvSpPr>
            <a:spLocks noGrp="1"/>
          </p:cNvSpPr>
          <p:nvPr>
            <p:ph idx="1"/>
          </p:nvPr>
        </p:nvSpPr>
        <p:spPr>
          <a:xfrm>
            <a:off x="838200" y="1434216"/>
            <a:ext cx="10515600" cy="4845378"/>
          </a:xfrm>
        </p:spPr>
        <p:txBody>
          <a:bodyPr>
            <a:normAutofit/>
          </a:bodyPr>
          <a:lstStyle/>
          <a:p>
            <a:pPr algn="just">
              <a:lnSpc>
                <a:spcPct val="115000"/>
              </a:lnSpc>
              <a:spcAft>
                <a:spcPts val="800"/>
              </a:spcAft>
            </a:pPr>
            <a:r>
              <a:rPr lang="en-US" sz="1800" dirty="0">
                <a:solidFill>
                  <a:srgbClr val="000000"/>
                </a:solidFill>
                <a:latin typeface="Times New Roman" panose="02020603050405020304" pitchFamily="18" charset="0"/>
              </a:rPr>
              <a:t>13. L1 Unstructured Pruning (PyTorch) - L1 pruning removes weights with the smallest absolute values. It keeps the model structure the same but sets some weights to zero. After pruning, the model can be fine-tuned to recover accuracy.</a:t>
            </a:r>
          </a:p>
          <a:p>
            <a:pPr algn="just">
              <a:lnSpc>
                <a:spcPct val="115000"/>
              </a:lnSpc>
              <a:spcAft>
                <a:spcPts val="800"/>
              </a:spcAft>
            </a:pPr>
            <a:r>
              <a:rPr lang="en-US" sz="1800" dirty="0">
                <a:solidFill>
                  <a:srgbClr val="000000"/>
                </a:solidFill>
                <a:latin typeface="Times New Roman" panose="02020603050405020304" pitchFamily="18" charset="0"/>
              </a:rPr>
              <a:t>14. Transformer Architecture (Vaswani et al., 2017) - The Transformer uses self-attention mechanisms to understand relationships between words. It is the foundation for all modern NLP models like BERT, GPT, and T5. It works in parallel, making it faster than older RNN models.</a:t>
            </a:r>
          </a:p>
          <a:p>
            <a:pPr algn="just">
              <a:lnSpc>
                <a:spcPct val="115000"/>
              </a:lnSpc>
              <a:spcAft>
                <a:spcPts val="800"/>
              </a:spcAft>
            </a:pPr>
            <a:r>
              <a:rPr lang="en-US" sz="1800" dirty="0">
                <a:solidFill>
                  <a:srgbClr val="000000"/>
                </a:solidFill>
                <a:latin typeface="Times New Roman" panose="02020603050405020304" pitchFamily="18" charset="0"/>
              </a:rPr>
              <a:t>15. HuggingFace Transformers Library - HuggingFace provides pre-trained models and tools for NLP. It makes it easy to load, train, and evaluate models like BERT and DistilBERT. We used this library in our project for model loading and evaluation.</a:t>
            </a:r>
          </a:p>
        </p:txBody>
      </p:sp>
      <p:sp>
        <p:nvSpPr>
          <p:cNvPr id="4" name="Slide Number Placeholder 3"/>
          <p:cNvSpPr>
            <a:spLocks noGrp="1"/>
          </p:cNvSpPr>
          <p:nvPr>
            <p:ph type="sldNum" sz="quarter" idx="12"/>
          </p:nvPr>
        </p:nvSpPr>
        <p:spPr/>
        <p:txBody>
          <a:bodyPr/>
          <a:lstStyle/>
          <a:p>
            <a:fld id="{D5DBFA6B-6BFA-499F-8D78-802DDEC96E8C}" type="slidenum">
              <a:rPr lang="en-IN" smtClean="0"/>
              <a:t>9</a:t>
            </a:fld>
            <a:endParaRPr lang="en-IN"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7072"/>
            <a:ext cx="10515600" cy="980388"/>
          </a:xfrm>
        </p:spPr>
        <p:txBody>
          <a:bodyPr/>
          <a:lstStyle/>
          <a:p>
            <a:r>
              <a:rPr lang="en-US" dirty="0">
                <a:latin typeface="Times New Roman" panose="02020603050405020304" pitchFamily="18" charset="0"/>
              </a:rPr>
              <a:t>Problem Statement</a:t>
            </a:r>
          </a:p>
        </p:txBody>
      </p:sp>
      <p:sp>
        <p:nvSpPr>
          <p:cNvPr id="3" name="Content Placeholder 2"/>
          <p:cNvSpPr>
            <a:spLocks noGrp="1"/>
          </p:cNvSpPr>
          <p:nvPr>
            <p:ph idx="1"/>
          </p:nvPr>
        </p:nvSpPr>
        <p:spPr>
          <a:xfrm>
            <a:off x="838200" y="1434216"/>
            <a:ext cx="10515600" cy="4845378"/>
          </a:xfrm>
        </p:spPr>
        <p:txBody>
          <a:bodyPr>
            <a:normAutofit/>
          </a:bodyPr>
          <a:lstStyle/>
          <a:p>
            <a:pPr algn="just">
              <a:lnSpc>
                <a:spcPct val="115000"/>
              </a:lnSpc>
              <a:spcAft>
                <a:spcPts val="800"/>
              </a:spcAft>
            </a:pPr>
            <a:r>
              <a:rPr lang="en-US" sz="1800" dirty="0">
                <a:solidFill>
                  <a:srgbClr val="000000"/>
                </a:solidFill>
                <a:latin typeface="Times New Roman" panose="02020603050405020304" pitchFamily="18" charset="0"/>
              </a:rPr>
              <a:t>Modern NLP models like BERT are very large (hundreds of MB) and slow to run.</a:t>
            </a:r>
          </a:p>
          <a:p>
            <a:pPr algn="just">
              <a:lnSpc>
                <a:spcPct val="115000"/>
              </a:lnSpc>
              <a:spcAft>
                <a:spcPts val="800"/>
              </a:spcAft>
            </a:pPr>
            <a:r>
              <a:rPr lang="en-US" sz="1800" dirty="0">
                <a:solidFill>
                  <a:srgbClr val="000000"/>
                </a:solidFill>
                <a:latin typeface="Times New Roman" panose="02020603050405020304" pitchFamily="18" charset="0"/>
              </a:rPr>
              <a:t>They cannot be deployed easily on mobile phones, embedded systems, or IoT devices.</a:t>
            </a:r>
          </a:p>
          <a:p>
            <a:pPr algn="just">
              <a:lnSpc>
                <a:spcPct val="115000"/>
              </a:lnSpc>
              <a:spcAft>
                <a:spcPts val="800"/>
              </a:spcAft>
            </a:pPr>
            <a:r>
              <a:rPr lang="en-US" sz="1800" dirty="0">
                <a:solidFill>
                  <a:srgbClr val="000000"/>
                </a:solidFill>
                <a:latin typeface="Times New Roman" panose="02020603050405020304" pitchFamily="18" charset="0"/>
              </a:rPr>
              <a:t>Real-time applications like chatbots and search engines need fast and lightweight models.</a:t>
            </a:r>
          </a:p>
          <a:p>
            <a:pPr algn="just">
              <a:lnSpc>
                <a:spcPct val="115000"/>
              </a:lnSpc>
              <a:spcAft>
                <a:spcPts val="800"/>
              </a:spcAft>
            </a:pPr>
            <a:r>
              <a:rPr lang="en-US" sz="1800" dirty="0">
                <a:solidFill>
                  <a:srgbClr val="000000"/>
                </a:solidFill>
                <a:latin typeface="Times New Roman" panose="02020603050405020304" pitchFamily="18" charset="0"/>
              </a:rPr>
              <a:t>But simply making a model smaller usually reduces its accuracy significantly.</a:t>
            </a:r>
          </a:p>
          <a:p>
            <a:pPr algn="just">
              <a:lnSpc>
                <a:spcPct val="115000"/>
              </a:lnSpc>
              <a:spcAft>
                <a:spcPts val="800"/>
              </a:spcAft>
            </a:pPr>
            <a:r>
              <a:rPr lang="en-US" sz="1800" dirty="0">
                <a:solidFill>
                  <a:srgbClr val="000000"/>
                </a:solidFill>
                <a:latin typeface="Times New Roman" panose="02020603050405020304" pitchFamily="18" charset="0"/>
              </a:rPr>
              <a:t>The challenge is: How to reduce model size and increase speed while keeping accuracy high?</a:t>
            </a:r>
          </a:p>
          <a:p>
            <a:pPr algn="just">
              <a:lnSpc>
                <a:spcPct val="115000"/>
              </a:lnSpc>
              <a:spcAft>
                <a:spcPts val="800"/>
              </a:spcAft>
            </a:pPr>
            <a:r>
              <a:rPr lang="en-US" sz="1800" dirty="0">
                <a:solidFill>
                  <a:srgbClr val="000000"/>
                </a:solidFill>
                <a:latin typeface="Times New Roman" panose="02020603050405020304" pitchFamily="18" charset="0"/>
              </a:rPr>
              <a:t>This is a multi-objective problem because we are optimizing three things at the same time: Accuracy, Latency (Speed), and Model Size.</a:t>
            </a:r>
          </a:p>
          <a:p>
            <a:pPr algn="just">
              <a:lnSpc>
                <a:spcPct val="115000"/>
              </a:lnSpc>
              <a:spcAft>
                <a:spcPts val="800"/>
              </a:spcAft>
            </a:pPr>
            <a:r>
              <a:rPr lang="en-US" sz="1800" dirty="0">
                <a:solidFill>
                  <a:srgbClr val="000000"/>
                </a:solidFill>
                <a:latin typeface="Times New Roman" panose="02020603050405020304" pitchFamily="18" charset="0"/>
              </a:rPr>
              <a:t>There is no single best solution - we need to find the best trade-off between all three goals.</a:t>
            </a:r>
          </a:p>
        </p:txBody>
      </p:sp>
      <p:sp>
        <p:nvSpPr>
          <p:cNvPr id="4" name="Slide Number Placeholder 3"/>
          <p:cNvSpPr>
            <a:spLocks noGrp="1"/>
          </p:cNvSpPr>
          <p:nvPr>
            <p:ph type="sldNum" sz="quarter" idx="12"/>
          </p:nvPr>
        </p:nvSpPr>
        <p:spPr/>
        <p:txBody>
          <a:bodyPr/>
          <a:lstStyle/>
          <a:p>
            <a:fld id="{D5DBFA6B-6BFA-499F-8D78-802DDEC96E8C}" type="slidenum">
              <a:rPr lang="en-IN" smtClean="0"/>
              <a:t>10</a:t>
            </a:fld>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7072"/>
            <a:ext cx="10515600" cy="980388"/>
          </a:xfrm>
        </p:spPr>
        <p:txBody>
          <a:bodyPr/>
          <a:lstStyle/>
          <a:p>
            <a:r>
              <a:rPr lang="en-US" dirty="0">
                <a:latin typeface="Times New Roman" panose="02020603050405020304" pitchFamily="18" charset="0"/>
              </a:rPr>
              <a:t>Objectives</a:t>
            </a:r>
          </a:p>
        </p:txBody>
      </p:sp>
      <p:sp>
        <p:nvSpPr>
          <p:cNvPr id="3" name="Content Placeholder 2"/>
          <p:cNvSpPr>
            <a:spLocks noGrp="1"/>
          </p:cNvSpPr>
          <p:nvPr>
            <p:ph idx="1"/>
          </p:nvPr>
        </p:nvSpPr>
        <p:spPr>
          <a:xfrm>
            <a:off x="838200" y="1434216"/>
            <a:ext cx="10515600" cy="4845378"/>
          </a:xfrm>
        </p:spPr>
        <p:txBody>
          <a:bodyPr>
            <a:normAutofit/>
          </a:bodyPr>
          <a:lstStyle/>
          <a:p>
            <a:pPr algn="just">
              <a:lnSpc>
                <a:spcPct val="115000"/>
              </a:lnSpc>
              <a:spcAft>
                <a:spcPts val="800"/>
              </a:spcAft>
            </a:pPr>
            <a:r>
              <a:rPr lang="en-US" sz="1800" dirty="0">
                <a:solidFill>
                  <a:srgbClr val="000000"/>
                </a:solidFill>
                <a:latin typeface="Times New Roman" panose="02020603050405020304" pitchFamily="18" charset="0"/>
              </a:rPr>
              <a:t>1. To build and train a lightweight language model using BERT-Tiny on the AG News dataset.</a:t>
            </a:r>
          </a:p>
          <a:p>
            <a:pPr algn="just">
              <a:lnSpc>
                <a:spcPct val="115000"/>
              </a:lnSpc>
              <a:spcAft>
                <a:spcPts val="800"/>
              </a:spcAft>
            </a:pPr>
            <a:r>
              <a:rPr lang="en-US" sz="1800" dirty="0">
                <a:solidFill>
                  <a:srgbClr val="000000"/>
                </a:solidFill>
                <a:latin typeface="Times New Roman" panose="02020603050405020304" pitchFamily="18" charset="0"/>
              </a:rPr>
              <a:t>2. To apply Pruning (removing unimportant weights) to reduce model size.</a:t>
            </a:r>
          </a:p>
          <a:p>
            <a:pPr algn="just">
              <a:lnSpc>
                <a:spcPct val="115000"/>
              </a:lnSpc>
              <a:spcAft>
                <a:spcPts val="800"/>
              </a:spcAft>
            </a:pPr>
            <a:r>
              <a:rPr lang="en-US" sz="1800" dirty="0">
                <a:solidFill>
                  <a:srgbClr val="000000"/>
                </a:solidFill>
                <a:latin typeface="Times New Roman" panose="02020603050405020304" pitchFamily="18" charset="0"/>
              </a:rPr>
              <a:t>3. To apply INT8 Quantization to speed up model inference on CPU.</a:t>
            </a:r>
          </a:p>
          <a:p>
            <a:pPr algn="just">
              <a:lnSpc>
                <a:spcPct val="115000"/>
              </a:lnSpc>
              <a:spcAft>
                <a:spcPts val="800"/>
              </a:spcAft>
            </a:pPr>
            <a:r>
              <a:rPr lang="en-US" sz="1800" dirty="0">
                <a:solidFill>
                  <a:srgbClr val="000000"/>
                </a:solidFill>
                <a:latin typeface="Times New Roman" panose="02020603050405020304" pitchFamily="18" charset="0"/>
              </a:rPr>
              <a:t>4. To evaluate and compare the original model and optimized model on Accuracy, Latency, and Size.</a:t>
            </a:r>
          </a:p>
          <a:p>
            <a:pPr algn="just">
              <a:lnSpc>
                <a:spcPct val="115000"/>
              </a:lnSpc>
              <a:spcAft>
                <a:spcPts val="800"/>
              </a:spcAft>
            </a:pPr>
            <a:r>
              <a:rPr lang="en-US" sz="1800" dirty="0">
                <a:solidFill>
                  <a:srgbClr val="000000"/>
                </a:solidFill>
                <a:latin typeface="Times New Roman" panose="02020603050405020304" pitchFamily="18" charset="0"/>
              </a:rPr>
              <a:t>5. To visualize the trade-off between accuracy and latency using a Pareto Frontier graph.</a:t>
            </a:r>
          </a:p>
          <a:p>
            <a:pPr algn="just">
              <a:lnSpc>
                <a:spcPct val="115000"/>
              </a:lnSpc>
              <a:spcAft>
                <a:spcPts val="800"/>
              </a:spcAft>
            </a:pPr>
            <a:r>
              <a:rPr lang="en-US" sz="1800" dirty="0">
                <a:solidFill>
                  <a:srgbClr val="000000"/>
                </a:solidFill>
                <a:latin typeface="Times New Roman" panose="02020603050405020304" pitchFamily="18" charset="0"/>
              </a:rPr>
              <a:t>6. To demonstrate that lightweight models can be used for real-world text classification tasks.</a:t>
            </a:r>
          </a:p>
        </p:txBody>
      </p:sp>
      <p:sp>
        <p:nvSpPr>
          <p:cNvPr id="4" name="Slide Number Placeholder 3"/>
          <p:cNvSpPr>
            <a:spLocks noGrp="1"/>
          </p:cNvSpPr>
          <p:nvPr>
            <p:ph type="sldNum" sz="quarter" idx="12"/>
          </p:nvPr>
        </p:nvSpPr>
        <p:spPr/>
        <p:txBody>
          <a:bodyPr/>
          <a:lstStyle/>
          <a:p>
            <a:fld id="{D5DBFA6B-6BFA-499F-8D78-802DDEC96E8C}" type="slidenum">
              <a:rPr lang="en-IN" smtClean="0"/>
              <a:t>11</a:t>
            </a:fld>
            <a:endParaRPr lang="en-IN"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7072"/>
            <a:ext cx="10515600" cy="980388"/>
          </a:xfrm>
        </p:spPr>
        <p:txBody>
          <a:bodyPr/>
          <a:lstStyle/>
          <a:p>
            <a:r>
              <a:rPr lang="en-US" dirty="0">
                <a:latin typeface="Times New Roman" panose="02020603050405020304" pitchFamily="18" charset="0"/>
              </a:rPr>
              <a:t>Models: BERT-Tiny</a:t>
            </a:r>
          </a:p>
        </p:txBody>
      </p:sp>
      <p:sp>
        <p:nvSpPr>
          <p:cNvPr id="3" name="Content Placeholder 2"/>
          <p:cNvSpPr>
            <a:spLocks noGrp="1"/>
          </p:cNvSpPr>
          <p:nvPr>
            <p:ph idx="1"/>
          </p:nvPr>
        </p:nvSpPr>
        <p:spPr>
          <a:xfrm>
            <a:off x="838200" y="1434216"/>
            <a:ext cx="10515600" cy="4845378"/>
          </a:xfrm>
        </p:spPr>
        <p:txBody>
          <a:bodyPr>
            <a:normAutofit/>
          </a:bodyPr>
          <a:lstStyle/>
          <a:p>
            <a:pPr algn="just">
              <a:lnSpc>
                <a:spcPct val="115000"/>
              </a:lnSpc>
              <a:spcAft>
                <a:spcPts val="800"/>
              </a:spcAft>
            </a:pPr>
            <a:r>
              <a:rPr lang="en-US" sz="1800" dirty="0">
                <a:solidFill>
                  <a:srgbClr val="000000"/>
                </a:solidFill>
                <a:latin typeface="Times New Roman" panose="02020603050405020304" pitchFamily="18" charset="0"/>
              </a:rPr>
              <a:t>We used BERT-Tiny (prajjwal1/bert-tiny) as our base model for this project.</a:t>
            </a:r>
          </a:p>
          <a:p>
            <a:pPr algn="just">
              <a:lnSpc>
                <a:spcPct val="115000"/>
              </a:lnSpc>
              <a:spcAft>
                <a:spcPts val="800"/>
              </a:spcAft>
            </a:pPr>
            <a:r>
              <a:rPr lang="en-US" sz="1800" dirty="0">
                <a:solidFill>
                  <a:srgbClr val="000000"/>
                </a:solidFill>
                <a:latin typeface="Times New Roman" panose="02020603050405020304" pitchFamily="18" charset="0"/>
              </a:rPr>
              <a:t>BERT-Tiny is a very small version of the original BERT model by Google.</a:t>
            </a:r>
          </a:p>
          <a:p>
            <a:pPr algn="just">
              <a:lnSpc>
                <a:spcPct val="115000"/>
              </a:lnSpc>
              <a:spcAft>
                <a:spcPts val="800"/>
              </a:spcAft>
            </a:pPr>
            <a:r>
              <a:rPr lang="en-US" sz="1800" dirty="0">
                <a:solidFill>
                  <a:srgbClr val="000000"/>
                </a:solidFill>
                <a:latin typeface="Times New Roman" panose="02020603050405020304" pitchFamily="18" charset="0"/>
              </a:rPr>
              <a:t>It has only 4.4 million parameters (compared to BERT's 110 million parameters).</a:t>
            </a:r>
          </a:p>
          <a:p>
            <a:pPr algn="just">
              <a:lnSpc>
                <a:spcPct val="115000"/>
              </a:lnSpc>
              <a:spcAft>
                <a:spcPts val="800"/>
              </a:spcAft>
            </a:pPr>
            <a:r>
              <a:rPr lang="en-US" sz="1800" dirty="0">
                <a:solidFill>
                  <a:srgbClr val="000000"/>
                </a:solidFill>
                <a:latin typeface="Times New Roman" panose="02020603050405020304" pitchFamily="18" charset="0"/>
              </a:rPr>
              <a:t>Architecture: 2 Transformer layers, 128 hidden dimensions, 2 attention heads.</a:t>
            </a:r>
          </a:p>
          <a:p>
            <a:pPr algn="just">
              <a:lnSpc>
                <a:spcPct val="115000"/>
              </a:lnSpc>
              <a:spcAft>
                <a:spcPts val="800"/>
              </a:spcAft>
            </a:pPr>
            <a:r>
              <a:rPr lang="en-US" sz="1800" dirty="0">
                <a:solidFill>
                  <a:srgbClr val="000000"/>
                </a:solidFill>
                <a:latin typeface="Times New Roman" panose="02020603050405020304" pitchFamily="18" charset="0"/>
              </a:rPr>
              <a:t>Even though it is small, it can still understand text and classify it into categories.</a:t>
            </a:r>
          </a:p>
          <a:p>
            <a:pPr algn="just">
              <a:lnSpc>
                <a:spcPct val="115000"/>
              </a:lnSpc>
              <a:spcAft>
                <a:spcPts val="800"/>
              </a:spcAft>
            </a:pPr>
            <a:r>
              <a:rPr lang="en-US" sz="1800" dirty="0">
                <a:solidFill>
                  <a:srgbClr val="000000"/>
                </a:solidFill>
                <a:latin typeface="Times New Roman" panose="02020603050405020304" pitchFamily="18" charset="0"/>
              </a:rPr>
              <a:t>It is ideal for this project because it trains fast on CPU and shows clear results when optimized.</a:t>
            </a:r>
          </a:p>
          <a:p>
            <a:pPr algn="just">
              <a:lnSpc>
                <a:spcPct val="115000"/>
              </a:lnSpc>
              <a:spcAft>
                <a:spcPts val="800"/>
              </a:spcAft>
            </a:pPr>
            <a:r>
              <a:rPr lang="en-US" sz="1800" dirty="0">
                <a:solidFill>
                  <a:srgbClr val="000000"/>
                </a:solidFill>
                <a:latin typeface="Times New Roman" panose="02020603050405020304" pitchFamily="18" charset="0"/>
              </a:rPr>
              <a:t>We used the HuggingFace library to load the model and fine-tune it on our dataset.</a:t>
            </a:r>
          </a:p>
        </p:txBody>
      </p:sp>
      <p:sp>
        <p:nvSpPr>
          <p:cNvPr id="4" name="Slide Number Placeholder 3"/>
          <p:cNvSpPr>
            <a:spLocks noGrp="1"/>
          </p:cNvSpPr>
          <p:nvPr>
            <p:ph type="sldNum" sz="quarter" idx="12"/>
          </p:nvPr>
        </p:nvSpPr>
        <p:spPr/>
        <p:txBody>
          <a:bodyPr/>
          <a:lstStyle/>
          <a:p>
            <a:fld id="{D5DBFA6B-6BFA-499F-8D78-802DDEC96E8C}" type="slidenum">
              <a:rPr lang="en-IN" smtClean="0"/>
              <a:t>12</a:t>
            </a:fld>
            <a:endParaRPr lang="en-IN"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7072"/>
            <a:ext cx="10515600" cy="980388"/>
          </a:xfrm>
        </p:spPr>
        <p:txBody>
          <a:bodyPr/>
          <a:lstStyle/>
          <a:p>
            <a:r>
              <a:rPr lang="en-US" dirty="0">
                <a:latin typeface="Times New Roman" panose="02020603050405020304" pitchFamily="18" charset="0"/>
              </a:rPr>
              <a:t>Models: Pruning Technique</a:t>
            </a:r>
          </a:p>
        </p:txBody>
      </p:sp>
      <p:sp>
        <p:nvSpPr>
          <p:cNvPr id="3" name="Content Placeholder 2"/>
          <p:cNvSpPr>
            <a:spLocks noGrp="1"/>
          </p:cNvSpPr>
          <p:nvPr>
            <p:ph idx="1"/>
          </p:nvPr>
        </p:nvSpPr>
        <p:spPr>
          <a:xfrm>
            <a:off x="838200" y="1434216"/>
            <a:ext cx="10515600" cy="4845378"/>
          </a:xfrm>
        </p:spPr>
        <p:txBody>
          <a:bodyPr>
            <a:normAutofit/>
          </a:bodyPr>
          <a:lstStyle/>
          <a:p>
            <a:pPr algn="just">
              <a:lnSpc>
                <a:spcPct val="115000"/>
              </a:lnSpc>
              <a:spcAft>
                <a:spcPts val="800"/>
              </a:spcAft>
            </a:pPr>
            <a:r>
              <a:rPr lang="en-US" sz="1800" dirty="0">
                <a:solidFill>
                  <a:srgbClr val="000000"/>
                </a:solidFill>
                <a:latin typeface="Times New Roman" panose="02020603050405020304" pitchFamily="18" charset="0"/>
              </a:rPr>
              <a:t>Pruning is a technique to remove unimportant weights from a neural network model.</a:t>
            </a:r>
          </a:p>
          <a:p>
            <a:pPr algn="just">
              <a:lnSpc>
                <a:spcPct val="115000"/>
              </a:lnSpc>
              <a:spcAft>
                <a:spcPts val="800"/>
              </a:spcAft>
            </a:pPr>
            <a:r>
              <a:rPr lang="en-US" sz="1800" dirty="0">
                <a:solidFill>
                  <a:srgbClr val="000000"/>
                </a:solidFill>
                <a:latin typeface="Times New Roman" panose="02020603050405020304" pitchFamily="18" charset="0"/>
              </a:rPr>
              <a:t>Weights with very small values contribute very little to the model's predictions.</a:t>
            </a:r>
          </a:p>
          <a:p>
            <a:pPr algn="just">
              <a:lnSpc>
                <a:spcPct val="115000"/>
              </a:lnSpc>
              <a:spcAft>
                <a:spcPts val="800"/>
              </a:spcAft>
            </a:pPr>
            <a:r>
              <a:rPr lang="en-US" sz="1800" dirty="0">
                <a:solidFill>
                  <a:srgbClr val="000000"/>
                </a:solidFill>
                <a:latin typeface="Times New Roman" panose="02020603050405020304" pitchFamily="18" charset="0"/>
              </a:rPr>
              <a:t>We used L1 Unstructured Pruning from PyTorch's torch.nn.utils.prune module.</a:t>
            </a:r>
          </a:p>
          <a:p>
            <a:pPr algn="just">
              <a:lnSpc>
                <a:spcPct val="115000"/>
              </a:lnSpc>
              <a:spcAft>
                <a:spcPts val="800"/>
              </a:spcAft>
            </a:pPr>
            <a:r>
              <a:rPr lang="en-US" sz="1800" dirty="0">
                <a:solidFill>
                  <a:srgbClr val="000000"/>
                </a:solidFill>
                <a:latin typeface="Times New Roman" panose="02020603050405020304" pitchFamily="18" charset="0"/>
              </a:rPr>
              <a:t>We removed 30% of the smallest weights from the classifier layer of the model.</a:t>
            </a:r>
          </a:p>
          <a:p>
            <a:pPr algn="just">
              <a:lnSpc>
                <a:spcPct val="115000"/>
              </a:lnSpc>
              <a:spcAft>
                <a:spcPts val="800"/>
              </a:spcAft>
            </a:pPr>
            <a:r>
              <a:rPr lang="en-US" sz="1800" dirty="0">
                <a:solidFill>
                  <a:srgbClr val="000000"/>
                </a:solidFill>
                <a:latin typeface="Times New Roman" panose="02020603050405020304" pitchFamily="18" charset="0"/>
              </a:rPr>
              <a:t>After pruning, the model has fewer active parameters, making it smaller and faster.</a:t>
            </a:r>
          </a:p>
          <a:p>
            <a:pPr algn="just">
              <a:lnSpc>
                <a:spcPct val="115000"/>
              </a:lnSpc>
              <a:spcAft>
                <a:spcPts val="800"/>
              </a:spcAft>
            </a:pPr>
            <a:r>
              <a:rPr lang="en-US" sz="1800" dirty="0">
                <a:solidFill>
                  <a:srgbClr val="000000"/>
                </a:solidFill>
                <a:latin typeface="Times New Roman" panose="02020603050405020304" pitchFamily="18" charset="0"/>
              </a:rPr>
              <a:t>Pruning can slightly reduce accuracy, but the model still gives useful results.</a:t>
            </a:r>
          </a:p>
          <a:p>
            <a:pPr algn="just">
              <a:lnSpc>
                <a:spcPct val="115000"/>
              </a:lnSpc>
              <a:spcAft>
                <a:spcPts val="800"/>
              </a:spcAft>
            </a:pPr>
            <a:r>
              <a:rPr lang="en-US" sz="1800" dirty="0">
                <a:solidFill>
                  <a:srgbClr val="000000"/>
                </a:solidFill>
                <a:latin typeface="Times New Roman" panose="02020603050405020304" pitchFamily="18" charset="0"/>
              </a:rPr>
              <a:t>This is one of the key techniques used in this project to make the model lightweight.</a:t>
            </a:r>
          </a:p>
        </p:txBody>
      </p:sp>
      <p:sp>
        <p:nvSpPr>
          <p:cNvPr id="4" name="Slide Number Placeholder 3"/>
          <p:cNvSpPr>
            <a:spLocks noGrp="1"/>
          </p:cNvSpPr>
          <p:nvPr>
            <p:ph type="sldNum" sz="quarter" idx="12"/>
          </p:nvPr>
        </p:nvSpPr>
        <p:spPr/>
        <p:txBody>
          <a:bodyPr/>
          <a:lstStyle/>
          <a:p>
            <a:fld id="{D5DBFA6B-6BFA-499F-8D78-802DDEC96E8C}" type="slidenum">
              <a:rPr lang="en-IN" smtClean="0"/>
              <a:t>13</a:t>
            </a:fld>
            <a:endParaRPr lang="en-IN"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7072"/>
            <a:ext cx="10515600" cy="980388"/>
          </a:xfrm>
        </p:spPr>
        <p:txBody>
          <a:bodyPr/>
          <a:lstStyle/>
          <a:p>
            <a:r>
              <a:rPr lang="en-US" dirty="0">
                <a:latin typeface="Times New Roman" panose="02020603050405020304" pitchFamily="18" charset="0"/>
              </a:rPr>
              <a:t>Models: Quantization Technique</a:t>
            </a:r>
          </a:p>
        </p:txBody>
      </p:sp>
      <p:sp>
        <p:nvSpPr>
          <p:cNvPr id="3" name="Content Placeholder 2"/>
          <p:cNvSpPr>
            <a:spLocks noGrp="1"/>
          </p:cNvSpPr>
          <p:nvPr>
            <p:ph idx="1"/>
          </p:nvPr>
        </p:nvSpPr>
        <p:spPr>
          <a:xfrm>
            <a:off x="838200" y="1434216"/>
            <a:ext cx="10515600" cy="4845378"/>
          </a:xfrm>
        </p:spPr>
        <p:txBody>
          <a:bodyPr>
            <a:normAutofit/>
          </a:bodyPr>
          <a:lstStyle/>
          <a:p>
            <a:pPr algn="just">
              <a:lnSpc>
                <a:spcPct val="115000"/>
              </a:lnSpc>
              <a:spcAft>
                <a:spcPts val="800"/>
              </a:spcAft>
            </a:pPr>
            <a:r>
              <a:rPr lang="en-US" sz="1800" dirty="0">
                <a:solidFill>
                  <a:srgbClr val="000000"/>
                </a:solidFill>
                <a:latin typeface="Times New Roman" panose="02020603050405020304" pitchFamily="18" charset="0"/>
              </a:rPr>
              <a:t>Quantization reduces the number precision of model weights from 32-bit float to 8-bit integer (INT8).</a:t>
            </a:r>
          </a:p>
          <a:p>
            <a:pPr algn="just">
              <a:lnSpc>
                <a:spcPct val="115000"/>
              </a:lnSpc>
              <a:spcAft>
                <a:spcPts val="800"/>
              </a:spcAft>
            </a:pPr>
            <a:r>
              <a:rPr lang="en-US" sz="1800" dirty="0">
                <a:solidFill>
                  <a:srgbClr val="000000"/>
                </a:solidFill>
                <a:latin typeface="Times New Roman" panose="02020603050405020304" pitchFamily="18" charset="0"/>
              </a:rPr>
              <a:t>This makes the model 4x smaller in memory and runs faster on CPU without a GPU.</a:t>
            </a:r>
          </a:p>
          <a:p>
            <a:pPr algn="just">
              <a:lnSpc>
                <a:spcPct val="115000"/>
              </a:lnSpc>
              <a:spcAft>
                <a:spcPts val="800"/>
              </a:spcAft>
            </a:pPr>
            <a:r>
              <a:rPr lang="en-US" sz="1800" dirty="0">
                <a:solidFill>
                  <a:srgbClr val="000000"/>
                </a:solidFill>
                <a:latin typeface="Times New Roman" panose="02020603050405020304" pitchFamily="18" charset="0"/>
              </a:rPr>
              <a:t>We used Dynamic Quantization from PyTorch: torch.quantization.quantize_dynamic().</a:t>
            </a:r>
          </a:p>
          <a:p>
            <a:pPr algn="just">
              <a:lnSpc>
                <a:spcPct val="115000"/>
              </a:lnSpc>
              <a:spcAft>
                <a:spcPts val="800"/>
              </a:spcAft>
            </a:pPr>
            <a:r>
              <a:rPr lang="en-US" sz="1800" dirty="0">
                <a:solidFill>
                  <a:srgbClr val="000000"/>
                </a:solidFill>
                <a:latin typeface="Times New Roman" panose="02020603050405020304" pitchFamily="18" charset="0"/>
              </a:rPr>
              <a:t>Dynamic quantization converts the Linear layers of the model to INT8 format.</a:t>
            </a:r>
          </a:p>
          <a:p>
            <a:pPr algn="just">
              <a:lnSpc>
                <a:spcPct val="115000"/>
              </a:lnSpc>
              <a:spcAft>
                <a:spcPts val="800"/>
              </a:spcAft>
            </a:pPr>
            <a:r>
              <a:rPr lang="en-US" sz="1800" dirty="0">
                <a:solidFill>
                  <a:srgbClr val="000000"/>
                </a:solidFill>
                <a:latin typeface="Times New Roman" panose="02020603050405020304" pitchFamily="18" charset="0"/>
              </a:rPr>
              <a:t>It does not need any retraining - it is applied directly to the trained model.</a:t>
            </a:r>
          </a:p>
          <a:p>
            <a:pPr algn="just">
              <a:lnSpc>
                <a:spcPct val="115000"/>
              </a:lnSpc>
              <a:spcAft>
                <a:spcPts val="800"/>
              </a:spcAft>
            </a:pPr>
            <a:r>
              <a:rPr lang="en-US" sz="1800" dirty="0">
                <a:solidFill>
                  <a:srgbClr val="000000"/>
                </a:solidFill>
                <a:latin typeface="Times New Roman" panose="02020603050405020304" pitchFamily="18" charset="0"/>
              </a:rPr>
              <a:t>The accuracy loss from INT8 quantization is usually very small (less than 2-3%).</a:t>
            </a:r>
          </a:p>
          <a:p>
            <a:pPr algn="just">
              <a:lnSpc>
                <a:spcPct val="115000"/>
              </a:lnSpc>
              <a:spcAft>
                <a:spcPts val="800"/>
              </a:spcAft>
            </a:pPr>
            <a:r>
              <a:rPr lang="en-US" sz="1800" dirty="0">
                <a:solidFill>
                  <a:srgbClr val="000000"/>
                </a:solidFill>
                <a:latin typeface="Times New Roman" panose="02020603050405020304" pitchFamily="18" charset="0"/>
              </a:rPr>
              <a:t>This technique is widely used in production systems to deploy AI models on devices.</a:t>
            </a:r>
          </a:p>
        </p:txBody>
      </p:sp>
      <p:sp>
        <p:nvSpPr>
          <p:cNvPr id="4" name="Slide Number Placeholder 3"/>
          <p:cNvSpPr>
            <a:spLocks noGrp="1"/>
          </p:cNvSpPr>
          <p:nvPr>
            <p:ph type="sldNum" sz="quarter" idx="12"/>
          </p:nvPr>
        </p:nvSpPr>
        <p:spPr/>
        <p:txBody>
          <a:bodyPr/>
          <a:lstStyle/>
          <a:p>
            <a:fld id="{D5DBFA6B-6BFA-499F-8D78-802DDEC96E8C}" type="slidenum">
              <a:rPr lang="en-IN" smtClean="0"/>
              <a:t>14</a:t>
            </a:fld>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7072"/>
            <a:ext cx="10515600" cy="980388"/>
          </a:xfrm>
        </p:spPr>
        <p:txBody>
          <a:bodyPr/>
          <a:lstStyle/>
          <a:p>
            <a:r>
              <a:rPr lang="en-US" dirty="0">
                <a:latin typeface="Times New Roman" panose="02020603050405020304" pitchFamily="18" charset="0"/>
              </a:rPr>
              <a:t>Experimental Setup</a:t>
            </a:r>
          </a:p>
        </p:txBody>
      </p:sp>
      <p:sp>
        <p:nvSpPr>
          <p:cNvPr id="3" name="Content Placeholder 2"/>
          <p:cNvSpPr>
            <a:spLocks noGrp="1"/>
          </p:cNvSpPr>
          <p:nvPr>
            <p:ph idx="1"/>
          </p:nvPr>
        </p:nvSpPr>
        <p:spPr>
          <a:xfrm>
            <a:off x="838200" y="1434216"/>
            <a:ext cx="10515600" cy="4845378"/>
          </a:xfrm>
        </p:spPr>
        <p:txBody>
          <a:bodyPr>
            <a:normAutofit/>
          </a:bodyPr>
          <a:lstStyle/>
          <a:p>
            <a:pPr algn="just">
              <a:lnSpc>
                <a:spcPct val="115000"/>
              </a:lnSpc>
              <a:spcAft>
                <a:spcPts val="800"/>
              </a:spcAft>
            </a:pPr>
            <a:r>
              <a:rPr lang="en-US" sz="1800" dirty="0">
                <a:solidFill>
                  <a:srgbClr val="000000"/>
                </a:solidFill>
                <a:latin typeface="Times New Roman" panose="02020603050405020304" pitchFamily="18" charset="0"/>
              </a:rPr>
              <a:t>Dataset: AG News - A public news classification dataset with 4 classes: World, Sports, Business, Science/Tech.</a:t>
            </a:r>
          </a:p>
          <a:p>
            <a:pPr algn="just">
              <a:lnSpc>
                <a:spcPct val="115000"/>
              </a:lnSpc>
              <a:spcAft>
                <a:spcPts val="800"/>
              </a:spcAft>
            </a:pPr>
            <a:r>
              <a:rPr lang="en-US" sz="1800" dirty="0">
                <a:solidFill>
                  <a:srgbClr val="000000"/>
                </a:solidFill>
                <a:latin typeface="Times New Roman" panose="02020603050405020304" pitchFamily="18" charset="0"/>
              </a:rPr>
              <a:t>Training samples: 1,500 news articles | Test samples: 300 news articles.</a:t>
            </a:r>
          </a:p>
          <a:p>
            <a:pPr algn="just">
              <a:lnSpc>
                <a:spcPct val="115000"/>
              </a:lnSpc>
              <a:spcAft>
                <a:spcPts val="800"/>
              </a:spcAft>
            </a:pPr>
            <a:r>
              <a:rPr lang="en-US" sz="1800" dirty="0">
                <a:solidFill>
                  <a:srgbClr val="000000"/>
                </a:solidFill>
                <a:latin typeface="Times New Roman" panose="02020603050405020304" pitchFamily="18" charset="0"/>
              </a:rPr>
              <a:t>Model: BERT-Tiny (prajjwal1/bert-tiny) loaded from HuggingFace library.</a:t>
            </a:r>
          </a:p>
          <a:p>
            <a:pPr algn="just">
              <a:lnSpc>
                <a:spcPct val="115000"/>
              </a:lnSpc>
              <a:spcAft>
                <a:spcPts val="800"/>
              </a:spcAft>
            </a:pPr>
            <a:r>
              <a:rPr lang="en-US" sz="1800" dirty="0">
                <a:solidFill>
                  <a:srgbClr val="000000"/>
                </a:solidFill>
                <a:latin typeface="Times New Roman" panose="02020603050405020304" pitchFamily="18" charset="0"/>
              </a:rPr>
              <a:t>Tokenizer: Max sequence length = 128 tokens, padding and truncation applied.</a:t>
            </a:r>
          </a:p>
          <a:p>
            <a:pPr algn="just">
              <a:lnSpc>
                <a:spcPct val="115000"/>
              </a:lnSpc>
              <a:spcAft>
                <a:spcPts val="800"/>
              </a:spcAft>
            </a:pPr>
            <a:r>
              <a:rPr lang="en-US" sz="1800" dirty="0">
                <a:solidFill>
                  <a:srgbClr val="000000"/>
                </a:solidFill>
                <a:latin typeface="Times New Roman" panose="02020603050405020304" pitchFamily="18" charset="0"/>
              </a:rPr>
              <a:t>Training: 2 epochs, learning rate = 3e-5, batch size = 8, optimizer = AdamW.</a:t>
            </a:r>
          </a:p>
          <a:p>
            <a:pPr algn="just">
              <a:lnSpc>
                <a:spcPct val="115000"/>
              </a:lnSpc>
              <a:spcAft>
                <a:spcPts val="800"/>
              </a:spcAft>
            </a:pPr>
            <a:r>
              <a:rPr lang="en-US" sz="1800" dirty="0">
                <a:solidFill>
                  <a:srgbClr val="000000"/>
                </a:solidFill>
                <a:latin typeface="Times New Roman" panose="02020603050405020304" pitchFamily="18" charset="0"/>
              </a:rPr>
              <a:t>Hardware: CPU only (no GPU used) - to simulate real edge device deployment.</a:t>
            </a:r>
          </a:p>
          <a:p>
            <a:pPr algn="just">
              <a:lnSpc>
                <a:spcPct val="115000"/>
              </a:lnSpc>
              <a:spcAft>
                <a:spcPts val="800"/>
              </a:spcAft>
            </a:pPr>
            <a:r>
              <a:rPr lang="en-US" sz="1800" dirty="0">
                <a:solidFill>
                  <a:srgbClr val="000000"/>
                </a:solidFill>
                <a:latin typeface="Times New Roman" panose="02020603050405020304" pitchFamily="18" charset="0"/>
              </a:rPr>
              <a:t>Evaluation Metrics: (1) Accuracy - percentage of correct predictions. (2) Latency - time per sample in seconds. (3) Model Size - total parameters x 4 bytes / 1 MB.</a:t>
            </a:r>
          </a:p>
        </p:txBody>
      </p:sp>
      <p:sp>
        <p:nvSpPr>
          <p:cNvPr id="4" name="Slide Number Placeholder 3"/>
          <p:cNvSpPr>
            <a:spLocks noGrp="1"/>
          </p:cNvSpPr>
          <p:nvPr>
            <p:ph type="sldNum" sz="quarter" idx="12"/>
          </p:nvPr>
        </p:nvSpPr>
        <p:spPr/>
        <p:txBody>
          <a:bodyPr/>
          <a:lstStyle/>
          <a:p>
            <a:fld id="{D5DBFA6B-6BFA-499F-8D78-802DDEC96E8C}" type="slidenum">
              <a:rPr lang="en-IN" smtClean="0"/>
              <a:t>15</a:t>
            </a:fld>
            <a:endParaRPr lang="en-IN"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7072"/>
            <a:ext cx="10515600" cy="980388"/>
          </a:xfrm>
        </p:spPr>
        <p:txBody>
          <a:bodyPr/>
          <a:lstStyle/>
          <a:p>
            <a:r>
              <a:rPr lang="en-US" dirty="0">
                <a:latin typeface="Times New Roman" panose="02020603050405020304" pitchFamily="18" charset="0"/>
              </a:rPr>
              <a:t>Results</a:t>
            </a:r>
          </a:p>
        </p:txBody>
      </p:sp>
      <p:sp>
        <p:nvSpPr>
          <p:cNvPr id="3" name="Content Placeholder 2"/>
          <p:cNvSpPr>
            <a:spLocks noGrp="1"/>
          </p:cNvSpPr>
          <p:nvPr>
            <p:ph idx="1"/>
          </p:nvPr>
        </p:nvSpPr>
        <p:spPr>
          <a:xfrm>
            <a:off x="838200" y="1434216"/>
            <a:ext cx="10515600" cy="4845378"/>
          </a:xfrm>
        </p:spPr>
        <p:txBody>
          <a:bodyPr>
            <a:normAutofit/>
          </a:bodyPr>
          <a:lstStyle/>
          <a:p>
            <a:pPr algn="just">
              <a:lnSpc>
                <a:spcPct val="115000"/>
              </a:lnSpc>
              <a:spcAft>
                <a:spcPts val="800"/>
              </a:spcAft>
            </a:pPr>
            <a:r>
              <a:rPr lang="en-US" sz="1800" dirty="0">
                <a:solidFill>
                  <a:srgbClr val="000000"/>
                </a:solidFill>
                <a:latin typeface="Times New Roman" panose="02020603050405020304" pitchFamily="18" charset="0"/>
              </a:rPr>
              <a:t>We compared two models: Baseline Model (original trained BERT-Tiny) and Quantized Model (after INT8 quantization).</a:t>
            </a:r>
          </a:p>
          <a:p>
            <a:pPr algn="just">
              <a:lnSpc>
                <a:spcPct val="115000"/>
              </a:lnSpc>
              <a:spcAft>
                <a:spcPts val="800"/>
              </a:spcAft>
            </a:pPr>
            <a:r>
              <a:rPr lang="en-US" sz="1800" dirty="0">
                <a:solidFill>
                  <a:srgbClr val="000000"/>
                </a:solidFill>
                <a:latin typeface="Times New Roman" panose="02020603050405020304" pitchFamily="18" charset="0"/>
              </a:rPr>
              <a:t>Baseline Model: Accuracy ~ 0.72 | Latency ~ 0.012 sec/sample | Size ~ 16.8 MB</a:t>
            </a:r>
          </a:p>
          <a:p>
            <a:pPr algn="just">
              <a:lnSpc>
                <a:spcPct val="115000"/>
              </a:lnSpc>
              <a:spcAft>
                <a:spcPts val="800"/>
              </a:spcAft>
            </a:pPr>
            <a:r>
              <a:rPr lang="en-US" sz="1800" dirty="0">
                <a:solidFill>
                  <a:srgbClr val="000000"/>
                </a:solidFill>
                <a:latin typeface="Times New Roman" panose="02020603050405020304" pitchFamily="18" charset="0"/>
              </a:rPr>
              <a:t>Quantized Model: Accuracy ~ 0.68 | Latency ~ 0.006 sec/sample | Size ~ 8.5 MB</a:t>
            </a:r>
          </a:p>
          <a:p>
            <a:pPr algn="just">
              <a:lnSpc>
                <a:spcPct val="115000"/>
              </a:lnSpc>
              <a:spcAft>
                <a:spcPts val="800"/>
              </a:spcAft>
            </a:pPr>
            <a:r>
              <a:rPr lang="en-US" sz="1800" dirty="0">
                <a:solidFill>
                  <a:srgbClr val="000000"/>
                </a:solidFill>
                <a:latin typeface="Times New Roman" panose="02020603050405020304" pitchFamily="18" charset="0"/>
              </a:rPr>
              <a:t>The Quantized model is 2x faster (50% lower latency) than the Baseline model.</a:t>
            </a:r>
          </a:p>
          <a:p>
            <a:pPr algn="just">
              <a:lnSpc>
                <a:spcPct val="115000"/>
              </a:lnSpc>
              <a:spcAft>
                <a:spcPts val="800"/>
              </a:spcAft>
            </a:pPr>
            <a:r>
              <a:rPr lang="en-US" sz="1800" dirty="0">
                <a:solidFill>
                  <a:srgbClr val="000000"/>
                </a:solidFill>
                <a:latin typeface="Times New Roman" panose="02020603050405020304" pitchFamily="18" charset="0"/>
              </a:rPr>
              <a:t>The Quantized model is 2x smaller in memory (50% less size) than the Baseline model.</a:t>
            </a:r>
          </a:p>
          <a:p>
            <a:pPr algn="just">
              <a:lnSpc>
                <a:spcPct val="115000"/>
              </a:lnSpc>
              <a:spcAft>
                <a:spcPts val="800"/>
              </a:spcAft>
            </a:pPr>
            <a:r>
              <a:rPr lang="en-US" sz="1800" dirty="0">
                <a:solidFill>
                  <a:srgbClr val="000000"/>
                </a:solidFill>
                <a:latin typeface="Times New Roman" panose="02020603050405020304" pitchFamily="18" charset="0"/>
              </a:rPr>
              <a:t>The accuracy dropped by only 4% which is acceptable for lightweight deployment.</a:t>
            </a:r>
          </a:p>
          <a:p>
            <a:pPr algn="just">
              <a:lnSpc>
                <a:spcPct val="115000"/>
              </a:lnSpc>
              <a:spcAft>
                <a:spcPts val="800"/>
              </a:spcAft>
            </a:pPr>
            <a:r>
              <a:rPr lang="en-US" sz="1800" dirty="0">
                <a:solidFill>
                  <a:srgbClr val="000000"/>
                </a:solidFill>
                <a:latin typeface="Times New Roman" panose="02020603050405020304" pitchFamily="18" charset="0"/>
              </a:rPr>
              <a:t>Observation: Quantization gives a very good balance between speed and accuracy, making it ideal for real-world use.</a:t>
            </a:r>
          </a:p>
        </p:txBody>
      </p:sp>
      <p:sp>
        <p:nvSpPr>
          <p:cNvPr id="4" name="Slide Number Placeholder 3"/>
          <p:cNvSpPr>
            <a:spLocks noGrp="1"/>
          </p:cNvSpPr>
          <p:nvPr>
            <p:ph type="sldNum" sz="quarter" idx="12"/>
          </p:nvPr>
        </p:nvSpPr>
        <p:spPr/>
        <p:txBody>
          <a:bodyPr/>
          <a:lstStyle/>
          <a:p>
            <a:fld id="{D5DBFA6B-6BFA-499F-8D78-802DDEC96E8C}" type="slidenum">
              <a:rPr lang="en-IN" smtClean="0"/>
              <a:t>16</a:t>
            </a:fld>
            <a:endParaRPr lang="en-IN"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7072"/>
            <a:ext cx="10515600" cy="980388"/>
          </a:xfrm>
        </p:spPr>
        <p:txBody>
          <a:bodyPr/>
          <a:lstStyle/>
          <a:p>
            <a:r>
              <a:rPr lang="en-US" dirty="0">
                <a:latin typeface="Times New Roman" panose="02020603050405020304" pitchFamily="18" charset="0"/>
              </a:rPr>
              <a:t>Results: Comparison Table</a:t>
            </a:r>
          </a:p>
        </p:txBody>
      </p:sp>
      <p:sp>
        <p:nvSpPr>
          <p:cNvPr id="3" name="Content Placeholder 2"/>
          <p:cNvSpPr>
            <a:spLocks noGrp="1"/>
          </p:cNvSpPr>
          <p:nvPr>
            <p:ph idx="1"/>
          </p:nvPr>
        </p:nvSpPr>
        <p:spPr>
          <a:xfrm>
            <a:off x="838200" y="1434216"/>
            <a:ext cx="10515600" cy="4845378"/>
          </a:xfrm>
        </p:spPr>
        <p:txBody>
          <a:bodyPr>
            <a:normAutofit/>
          </a:bodyPr>
          <a:lstStyle/>
          <a:p>
            <a:pPr algn="just">
              <a:lnSpc>
                <a:spcPct val="115000"/>
              </a:lnSpc>
              <a:spcAft>
                <a:spcPts val="500"/>
              </a:spcAft>
            </a:pPr>
            <a:r>
              <a:rPr lang="en-US" sz="1800" b="1" dirty="0">
                <a:solidFill>
                  <a:srgbClr val="000000"/>
                </a:solidFill>
                <a:latin typeface="Times New Roman" panose="02020603050405020304" pitchFamily="18" charset="0"/>
              </a:rPr>
              <a:t>Table 1: Comparison of Baseline vs Quantized Model</a:t>
            </a:r>
          </a:p>
          <a:p>
            <a:pPr algn="just">
              <a:lnSpc>
                <a:spcPct val="115000"/>
              </a:lnSpc>
              <a:spcAft>
                <a:spcPts val="500"/>
              </a:spcAft>
            </a:pPr>
            <a:r>
              <a:rPr lang="en-US" sz="1800" b="1" dirty="0">
                <a:solidFill>
                  <a:srgbClr val="000000"/>
                </a:solidFill>
                <a:latin typeface="Times New Roman" panose="02020603050405020304" pitchFamily="18" charset="0"/>
              </a:rPr>
              <a:t>Metric                  | Baseline Model | Quantized Model</a:t>
            </a:r>
          </a:p>
          <a:p>
            <a:pPr algn="just">
              <a:lnSpc>
                <a:spcPct val="115000"/>
              </a:lnSpc>
              <a:spcAft>
                <a:spcPts val="500"/>
              </a:spcAft>
            </a:pPr>
            <a:r>
              <a:rPr lang="en-US" sz="1800" dirty="0">
                <a:solidFill>
                  <a:srgbClr val="000000"/>
                </a:solidFill>
                <a:latin typeface="Times New Roman" panose="02020603050405020304" pitchFamily="18" charset="0"/>
              </a:rPr>
              <a:t>Accuracy                |      0.72        |       0.68</a:t>
            </a:r>
          </a:p>
          <a:p>
            <a:pPr algn="just">
              <a:lnSpc>
                <a:spcPct val="115000"/>
              </a:lnSpc>
              <a:spcAft>
                <a:spcPts val="500"/>
              </a:spcAft>
            </a:pPr>
            <a:r>
              <a:rPr lang="en-US" sz="1800" dirty="0">
                <a:solidFill>
                  <a:srgbClr val="000000"/>
                </a:solidFill>
                <a:latin typeface="Times New Roman" panose="02020603050405020304" pitchFamily="18" charset="0"/>
              </a:rPr>
              <a:t>Latency (sec/sample)    |     0.012        |      0.006</a:t>
            </a:r>
          </a:p>
          <a:p>
            <a:pPr algn="just">
              <a:lnSpc>
                <a:spcPct val="115000"/>
              </a:lnSpc>
              <a:spcAft>
                <a:spcPts val="500"/>
              </a:spcAft>
            </a:pPr>
            <a:r>
              <a:rPr lang="en-US" sz="1800" dirty="0">
                <a:solidFill>
                  <a:srgbClr val="000000"/>
                </a:solidFill>
                <a:latin typeface="Times New Roman" panose="02020603050405020304" pitchFamily="18" charset="0"/>
              </a:rPr>
              <a:t>Model Size (MB)         |     16.8 MB      |      8.5 MB</a:t>
            </a:r>
          </a:p>
          <a:p>
            <a:pPr algn="just">
              <a:lnSpc>
                <a:spcPct val="115000"/>
              </a:lnSpc>
              <a:spcAft>
                <a:spcPts val="500"/>
              </a:spcAft>
            </a:pPr>
            <a:r>
              <a:rPr lang="en-US" sz="1800" dirty="0">
                <a:solidFill>
                  <a:srgbClr val="000000"/>
                </a:solidFill>
                <a:latin typeface="Times New Roman" panose="02020603050405020304" pitchFamily="18" charset="0"/>
              </a:rPr>
              <a:t>Speed Improvement       |      1x (base)   |       2x faster</a:t>
            </a:r>
          </a:p>
          <a:p>
            <a:pPr algn="just">
              <a:lnSpc>
                <a:spcPct val="115000"/>
              </a:lnSpc>
              <a:spcAft>
                <a:spcPts val="500"/>
              </a:spcAft>
            </a:pPr>
            <a:r>
              <a:rPr lang="en-US" sz="1800" dirty="0">
                <a:solidFill>
                  <a:srgbClr val="000000"/>
                </a:solidFill>
                <a:latin typeface="Times New Roman" panose="02020603050405020304" pitchFamily="18" charset="0"/>
              </a:rPr>
              <a:t>Size Reduction          |      1x (base)   |       2x smaller</a:t>
            </a:r>
          </a:p>
          <a:p>
            <a:pPr algn="just">
              <a:lnSpc>
                <a:spcPct val="115000"/>
              </a:lnSpc>
              <a:spcAft>
                <a:spcPts val="500"/>
              </a:spcAft>
            </a:pPr>
            <a:r>
              <a:rPr lang="en-US" sz="1800" dirty="0">
                <a:solidFill>
                  <a:srgbClr val="000000"/>
                </a:solidFill>
                <a:latin typeface="Times New Roman" panose="02020603050405020304" pitchFamily="18" charset="0"/>
              </a:rPr>
              <a:t>Accuracy Drop           |       ---        |        4% lower</a:t>
            </a:r>
          </a:p>
          <a:p>
            <a:pPr algn="just">
              <a:lnSpc>
                <a:spcPct val="115000"/>
              </a:lnSpc>
              <a:spcAft>
                <a:spcPts val="800"/>
              </a:spcAft>
            </a:pPr>
            <a:r>
              <a:rPr lang="en-US" sz="1800" b="1" dirty="0">
                <a:solidFill>
                  <a:srgbClr val="000000"/>
                </a:solidFill>
                <a:latin typeface="Times New Roman" panose="02020603050405020304" pitchFamily="18" charset="0"/>
              </a:rPr>
              <a:t>Conclusion: The Quantized model achieves 2x speed and 2x size reduction with only 4% accuracy loss - a very good trade-off for real-world deployment.</a:t>
            </a:r>
          </a:p>
        </p:txBody>
      </p:sp>
      <p:sp>
        <p:nvSpPr>
          <p:cNvPr id="4" name="Slide Number Placeholder 3"/>
          <p:cNvSpPr>
            <a:spLocks noGrp="1"/>
          </p:cNvSpPr>
          <p:nvPr>
            <p:ph type="sldNum" sz="quarter" idx="12"/>
          </p:nvPr>
        </p:nvSpPr>
        <p:spPr/>
        <p:txBody>
          <a:bodyPr/>
          <a:lstStyle/>
          <a:p>
            <a:fld id="{D5DBFA6B-6BFA-499F-8D78-802DDEC96E8C}" type="slidenum">
              <a:rPr lang="en-IN" smtClean="0"/>
              <a:t>17</a:t>
            </a:fld>
            <a:endParaRPr lang="en-IN"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B65DAE22-BE21-874B-4CB0-AA3CB6FF83D6}"/>
              </a:ext>
            </a:extLst>
          </p:cNvPr>
          <p:cNvSpPr>
            <a:spLocks noGrp="1"/>
          </p:cNvSpPr>
          <p:nvPr>
            <p:ph type="sldNum" sz="quarter" idx="12"/>
          </p:nvPr>
        </p:nvSpPr>
        <p:spPr/>
        <p:txBody>
          <a:bodyPr/>
          <a:lstStyle/>
          <a:p>
            <a:fld id="{D5DBFA6B-6BFA-499F-8D78-802DDEC96E8C}" type="slidenum">
              <a:rPr lang="en-IN" smtClean="0"/>
              <a:t>18</a:t>
            </a:fld>
            <a:endParaRPr lang="en-IN" dirty="0"/>
          </a:p>
        </p:txBody>
      </p:sp>
      <p:pic>
        <p:nvPicPr>
          <p:cNvPr id="4" name="Picture 3">
            <a:extLst>
              <a:ext uri="{FF2B5EF4-FFF2-40B4-BE49-F238E27FC236}">
                <a16:creationId xmlns:a16="http://schemas.microsoft.com/office/drawing/2014/main" id="{EF40C3BC-0B1E-D32F-29BE-FDE27D90C065}"/>
              </a:ext>
            </a:extLst>
          </p:cNvPr>
          <p:cNvPicPr>
            <a:picLocks noChangeAspect="1"/>
          </p:cNvPicPr>
          <p:nvPr/>
        </p:nvPicPr>
        <p:blipFill>
          <a:blip r:embed="rId2"/>
          <a:stretch>
            <a:fillRect/>
          </a:stretch>
        </p:blipFill>
        <p:spPr>
          <a:xfrm>
            <a:off x="3138487" y="1262062"/>
            <a:ext cx="5915025" cy="4333875"/>
          </a:xfrm>
          <a:prstGeom prst="rect">
            <a:avLst/>
          </a:prstGeom>
        </p:spPr>
      </p:pic>
    </p:spTree>
    <p:extLst>
      <p:ext uri="{BB962C8B-B14F-4D97-AF65-F5344CB8AC3E}">
        <p14:creationId xmlns:p14="http://schemas.microsoft.com/office/powerpoint/2010/main" val="226162902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7072"/>
            <a:ext cx="10515600" cy="980388"/>
          </a:xfrm>
        </p:spPr>
        <p:txBody>
          <a:bodyPr/>
          <a:lstStyle/>
          <a:p>
            <a:r>
              <a:rPr lang="en-US" dirty="0">
                <a:latin typeface="Times New Roman" panose="02020603050405020304" pitchFamily="18" charset="0"/>
              </a:rPr>
              <a:t>Conclusions and Future Work</a:t>
            </a:r>
          </a:p>
        </p:txBody>
      </p:sp>
      <p:sp>
        <p:nvSpPr>
          <p:cNvPr id="3" name="Content Placeholder 2"/>
          <p:cNvSpPr>
            <a:spLocks noGrp="1"/>
          </p:cNvSpPr>
          <p:nvPr>
            <p:ph idx="1"/>
          </p:nvPr>
        </p:nvSpPr>
        <p:spPr>
          <a:xfrm>
            <a:off x="838200" y="1434216"/>
            <a:ext cx="10515600" cy="4845378"/>
          </a:xfrm>
        </p:spPr>
        <p:txBody>
          <a:bodyPr>
            <a:normAutofit lnSpcReduction="10000"/>
          </a:bodyPr>
          <a:lstStyle/>
          <a:p>
            <a:pPr algn="just">
              <a:lnSpc>
                <a:spcPct val="115000"/>
              </a:lnSpc>
              <a:spcAft>
                <a:spcPts val="800"/>
              </a:spcAft>
            </a:pPr>
            <a:r>
              <a:rPr lang="en-US" sz="1800" dirty="0">
                <a:solidFill>
                  <a:srgbClr val="000000"/>
                </a:solidFill>
                <a:latin typeface="Times New Roman" panose="02020603050405020304" pitchFamily="18" charset="0"/>
              </a:rPr>
              <a:t>Conclusion 1: We successfully trained a lightweight BERT-Tiny model on the AG News text classification dataset with reasonable accuracy.</a:t>
            </a:r>
          </a:p>
          <a:p>
            <a:pPr algn="just">
              <a:lnSpc>
                <a:spcPct val="115000"/>
              </a:lnSpc>
              <a:spcAft>
                <a:spcPts val="800"/>
              </a:spcAft>
            </a:pPr>
            <a:r>
              <a:rPr lang="en-US" sz="1800" dirty="0">
                <a:solidFill>
                  <a:srgbClr val="000000"/>
                </a:solidFill>
                <a:latin typeface="Times New Roman" panose="02020603050405020304" pitchFamily="18" charset="0"/>
              </a:rPr>
              <a:t>Conclusion 2: By applying INT8 Quantization, we achieved 2x faster inference speed and 2x smaller model size.</a:t>
            </a:r>
          </a:p>
          <a:p>
            <a:pPr algn="just">
              <a:lnSpc>
                <a:spcPct val="115000"/>
              </a:lnSpc>
              <a:spcAft>
                <a:spcPts val="800"/>
              </a:spcAft>
            </a:pPr>
            <a:r>
              <a:rPr lang="en-US" sz="1800" dirty="0">
                <a:solidFill>
                  <a:srgbClr val="000000"/>
                </a:solidFill>
                <a:latin typeface="Times New Roman" panose="02020603050405020304" pitchFamily="18" charset="0"/>
              </a:rPr>
              <a:t>Conclusion 3: The accuracy dropped by only 4%, which is an acceptable trade-off for real-world deployment.</a:t>
            </a:r>
          </a:p>
          <a:p>
            <a:pPr algn="just">
              <a:lnSpc>
                <a:spcPct val="115000"/>
              </a:lnSpc>
              <a:spcAft>
                <a:spcPts val="800"/>
              </a:spcAft>
            </a:pPr>
            <a:r>
              <a:rPr lang="en-US" sz="1800" dirty="0">
                <a:solidFill>
                  <a:srgbClr val="000000"/>
                </a:solidFill>
                <a:latin typeface="Times New Roman" panose="02020603050405020304" pitchFamily="18" charset="0"/>
              </a:rPr>
              <a:t>Conclusion 4: The Pareto Frontier graph clearly shows the trade-off between accuracy and speed for the two models.</a:t>
            </a:r>
          </a:p>
          <a:p>
            <a:pPr algn="just">
              <a:lnSpc>
                <a:spcPct val="115000"/>
              </a:lnSpc>
              <a:spcAft>
                <a:spcPts val="800"/>
              </a:spcAft>
            </a:pPr>
            <a:r>
              <a:rPr lang="en-US" sz="1800" dirty="0">
                <a:solidFill>
                  <a:srgbClr val="000000"/>
                </a:solidFill>
                <a:latin typeface="Times New Roman" panose="02020603050405020304" pitchFamily="18" charset="0"/>
              </a:rPr>
              <a:t>Conclusion 5: Lightweight models are practical and can be deployed on edge devices and mobile phones.</a:t>
            </a:r>
          </a:p>
          <a:p>
            <a:pPr algn="just">
              <a:lnSpc>
                <a:spcPct val="115000"/>
              </a:lnSpc>
              <a:spcAft>
                <a:spcPts val="800"/>
              </a:spcAft>
            </a:pPr>
            <a:r>
              <a:rPr lang="en-US" sz="1800" dirty="0">
                <a:solidFill>
                  <a:srgbClr val="000000"/>
                </a:solidFill>
                <a:latin typeface="Times New Roman" panose="02020603050405020304" pitchFamily="18" charset="0"/>
              </a:rPr>
              <a:t>Future Work 1: Use a larger dataset (full AG News - 120,000 samples) to get higher accuracy (80-90%).</a:t>
            </a:r>
          </a:p>
          <a:p>
            <a:pPr algn="just">
              <a:lnSpc>
                <a:spcPct val="115000"/>
              </a:lnSpc>
              <a:spcAft>
                <a:spcPts val="800"/>
              </a:spcAft>
            </a:pPr>
            <a:r>
              <a:rPr lang="en-US" sz="1800" dirty="0">
                <a:solidFill>
                  <a:srgbClr val="000000"/>
                </a:solidFill>
                <a:latin typeface="Times New Roman" panose="02020603050405020304" pitchFamily="18" charset="0"/>
              </a:rPr>
              <a:t>Future Work 2: Try more advanced techniques like structured pruning, mixed-precision quantization, and knowledge distillation with a teacher model to further improve results.</a:t>
            </a:r>
          </a:p>
        </p:txBody>
      </p:sp>
      <p:sp>
        <p:nvSpPr>
          <p:cNvPr id="4" name="Slide Number Placeholder 3"/>
          <p:cNvSpPr>
            <a:spLocks noGrp="1"/>
          </p:cNvSpPr>
          <p:nvPr>
            <p:ph type="sldNum" sz="quarter" idx="12"/>
          </p:nvPr>
        </p:nvSpPr>
        <p:spPr/>
        <p:txBody>
          <a:bodyPr/>
          <a:lstStyle/>
          <a:p>
            <a:fld id="{D5DBFA6B-6BFA-499F-8D78-802DDEC96E8C}" type="slidenum">
              <a:rPr lang="en-IN" smtClean="0"/>
              <a:t>19</a:t>
            </a:fld>
            <a:endParaRPr lang="en-IN"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7072"/>
            <a:ext cx="10515600" cy="980388"/>
          </a:xfrm>
        </p:spPr>
        <p:txBody>
          <a:bodyPr/>
          <a:lstStyle/>
          <a:p>
            <a:r>
              <a:rPr lang="en-US" dirty="0">
                <a:latin typeface="Times New Roman" panose="02020603050405020304" pitchFamily="18" charset="0"/>
              </a:rPr>
              <a:t>References</a:t>
            </a:r>
          </a:p>
        </p:txBody>
      </p:sp>
      <p:sp>
        <p:nvSpPr>
          <p:cNvPr id="3" name="Content Placeholder 2"/>
          <p:cNvSpPr>
            <a:spLocks noGrp="1"/>
          </p:cNvSpPr>
          <p:nvPr>
            <p:ph idx="1"/>
          </p:nvPr>
        </p:nvSpPr>
        <p:spPr>
          <a:xfrm>
            <a:off x="838200" y="1434216"/>
            <a:ext cx="10515600" cy="4845378"/>
          </a:xfrm>
        </p:spPr>
        <p:txBody>
          <a:bodyPr>
            <a:normAutofit lnSpcReduction="10000"/>
          </a:bodyPr>
          <a:lstStyle/>
          <a:p>
            <a:pPr algn="just">
              <a:lnSpc>
                <a:spcPct val="115000"/>
              </a:lnSpc>
              <a:spcAft>
                <a:spcPts val="600"/>
              </a:spcAft>
            </a:pPr>
            <a:r>
              <a:rPr lang="en-US" sz="1500" dirty="0">
                <a:solidFill>
                  <a:srgbClr val="000000"/>
                </a:solidFill>
                <a:latin typeface="Times New Roman" panose="02020603050405020304" pitchFamily="18" charset="0"/>
              </a:rPr>
              <a:t>[1] Devlin, J., Chang, M. W., Lee, K., &amp; Toutanova, K. (2019). BERT: Pre-training of Deep Bidirectional Transformers for Language Understanding. NAACL-HLT 2019.</a:t>
            </a:r>
          </a:p>
          <a:p>
            <a:pPr algn="just">
              <a:lnSpc>
                <a:spcPct val="115000"/>
              </a:lnSpc>
              <a:spcAft>
                <a:spcPts val="600"/>
              </a:spcAft>
            </a:pPr>
            <a:r>
              <a:rPr lang="en-US" sz="1500" dirty="0">
                <a:solidFill>
                  <a:srgbClr val="000000"/>
                </a:solidFill>
                <a:latin typeface="Times New Roman" panose="02020603050405020304" pitchFamily="18" charset="0"/>
              </a:rPr>
              <a:t>[2] Sanh, V., Debut, L., Chaumond, J., &amp; Wolf, T. (2019). DistilBERT, a distilled version of BERT. arXiv:1910.01108.</a:t>
            </a:r>
          </a:p>
          <a:p>
            <a:pPr algn="just">
              <a:lnSpc>
                <a:spcPct val="115000"/>
              </a:lnSpc>
              <a:spcAft>
                <a:spcPts val="600"/>
              </a:spcAft>
            </a:pPr>
            <a:r>
              <a:rPr lang="en-US" sz="1500" dirty="0">
                <a:solidFill>
                  <a:srgbClr val="000000"/>
                </a:solidFill>
                <a:latin typeface="Times New Roman" panose="02020603050405020304" pitchFamily="18" charset="0"/>
              </a:rPr>
              <a:t>[3] Jiao, X. et al. (2020). TinyBERT: Distilling BERT for Natural Language Understanding. EMNLP 2020.</a:t>
            </a:r>
          </a:p>
          <a:p>
            <a:pPr algn="just">
              <a:lnSpc>
                <a:spcPct val="115000"/>
              </a:lnSpc>
              <a:spcAft>
                <a:spcPts val="600"/>
              </a:spcAft>
            </a:pPr>
            <a:r>
              <a:rPr lang="en-US" sz="1500" dirty="0">
                <a:solidFill>
                  <a:srgbClr val="000000"/>
                </a:solidFill>
                <a:latin typeface="Times New Roman" panose="02020603050405020304" pitchFamily="18" charset="0"/>
              </a:rPr>
              <a:t>[4] Han, S., Pool, J., Tran, J., &amp; Dally, W. (2015). Learning both Weights and Connections for Efficient Neural Networks. NeurIPS 2015.</a:t>
            </a:r>
          </a:p>
          <a:p>
            <a:pPr algn="just">
              <a:lnSpc>
                <a:spcPct val="115000"/>
              </a:lnSpc>
              <a:spcAft>
                <a:spcPts val="600"/>
              </a:spcAft>
            </a:pPr>
            <a:r>
              <a:rPr lang="en-US" sz="1500" dirty="0">
                <a:solidFill>
                  <a:srgbClr val="000000"/>
                </a:solidFill>
                <a:latin typeface="Times New Roman" panose="02020603050405020304" pitchFamily="18" charset="0"/>
              </a:rPr>
              <a:t>[5] Jacob, B. et al. (2018). Quantization and Training of Neural Networks for Efficient Integer-Arithmetic-Only Inference. CVPR 2018.</a:t>
            </a:r>
          </a:p>
          <a:p>
            <a:pPr algn="just">
              <a:lnSpc>
                <a:spcPct val="115000"/>
              </a:lnSpc>
              <a:spcAft>
                <a:spcPts val="600"/>
              </a:spcAft>
            </a:pPr>
            <a:r>
              <a:rPr lang="en-US" sz="1500" dirty="0">
                <a:solidFill>
                  <a:srgbClr val="000000"/>
                </a:solidFill>
                <a:latin typeface="Times New Roman" panose="02020603050405020304" pitchFamily="18" charset="0"/>
              </a:rPr>
              <a:t>[6] Hinton, G., Vinyals, O., &amp; Dean, J. (2015). Distilling the Knowledge in a Neural Network. arXiv:1503.02531.</a:t>
            </a:r>
          </a:p>
          <a:p>
            <a:pPr algn="just">
              <a:lnSpc>
                <a:spcPct val="115000"/>
              </a:lnSpc>
              <a:spcAft>
                <a:spcPts val="600"/>
              </a:spcAft>
            </a:pPr>
            <a:r>
              <a:rPr lang="en-US" sz="1500" dirty="0">
                <a:solidFill>
                  <a:srgbClr val="000000"/>
                </a:solidFill>
                <a:latin typeface="Times New Roman" panose="02020603050405020304" pitchFamily="18" charset="0"/>
              </a:rPr>
              <a:t>[7] Zhang, X. et al. (2015). Character-level Convolutional Networks for Text Classification. NeurIPS 2015. (AG News Dataset)</a:t>
            </a:r>
          </a:p>
          <a:p>
            <a:pPr algn="just">
              <a:lnSpc>
                <a:spcPct val="115000"/>
              </a:lnSpc>
              <a:spcAft>
                <a:spcPts val="600"/>
              </a:spcAft>
            </a:pPr>
            <a:r>
              <a:rPr lang="en-US" sz="1500" dirty="0">
                <a:solidFill>
                  <a:srgbClr val="000000"/>
                </a:solidFill>
                <a:latin typeface="Times New Roman" panose="02020603050405020304" pitchFamily="18" charset="0"/>
              </a:rPr>
              <a:t>[8] HuggingFace Transformers Library: https://huggingface.co/transformers</a:t>
            </a:r>
          </a:p>
          <a:p>
            <a:pPr algn="just">
              <a:lnSpc>
                <a:spcPct val="115000"/>
              </a:lnSpc>
              <a:spcAft>
                <a:spcPts val="600"/>
              </a:spcAft>
            </a:pPr>
            <a:r>
              <a:rPr lang="en-US" sz="1500" dirty="0">
                <a:solidFill>
                  <a:srgbClr val="000000"/>
                </a:solidFill>
                <a:latin typeface="Times New Roman" panose="02020603050405020304" pitchFamily="18" charset="0"/>
              </a:rPr>
              <a:t>[9] PyTorch Quantization Documentation: https://pytorch.org/docs/stable/quantization.html</a:t>
            </a:r>
          </a:p>
        </p:txBody>
      </p:sp>
      <p:sp>
        <p:nvSpPr>
          <p:cNvPr id="4" name="Slide Number Placeholder 3"/>
          <p:cNvSpPr>
            <a:spLocks noGrp="1"/>
          </p:cNvSpPr>
          <p:nvPr>
            <p:ph type="sldNum" sz="quarter" idx="12"/>
          </p:nvPr>
        </p:nvSpPr>
        <p:spPr/>
        <p:txBody>
          <a:bodyPr/>
          <a:lstStyle/>
          <a:p>
            <a:fld id="{D5DBFA6B-6BFA-499F-8D78-802DDEC96E8C}" type="slidenum">
              <a:rPr lang="en-IN" smtClean="0"/>
              <a:t>20</a:t>
            </a:fld>
            <a:endParaRPr lang="en-IN"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5584914"/>
          </a:xfrm>
        </p:spPr>
        <p:txBody>
          <a:bodyPr anchor="t"/>
          <a:lstStyle/>
          <a:p>
            <a:pPr algn="ctr"/>
            <a:r>
              <a:rPr lang="en-US" dirty="0"/>
              <a:t>				</a:t>
            </a:r>
            <a:br>
              <a:rPr lang="en-US" dirty="0"/>
            </a:br>
            <a:r>
              <a:rPr lang="en-US" dirty="0"/>
              <a:t>		</a:t>
            </a:r>
            <a:br>
              <a:rPr lang="en-US" dirty="0"/>
            </a:br>
            <a:br>
              <a:rPr lang="en-US" dirty="0"/>
            </a:br>
            <a:br>
              <a:rPr lang="en-US" dirty="0"/>
            </a:br>
            <a:r>
              <a:rPr lang="en-US" sz="8000" dirty="0">
                <a:latin typeface="Times New Roman" panose="02020603050405020304" pitchFamily="18" charset="0"/>
                <a:cs typeface="Times New Roman" panose="02020603050405020304" pitchFamily="18" charset="0"/>
              </a:rPr>
              <a:t>THANK YOU</a:t>
            </a:r>
          </a:p>
        </p:txBody>
      </p:sp>
      <p:sp>
        <p:nvSpPr>
          <p:cNvPr id="3" name="Slide Number Placeholder 2"/>
          <p:cNvSpPr>
            <a:spLocks noGrp="1"/>
          </p:cNvSpPr>
          <p:nvPr>
            <p:ph type="sldNum" sz="quarter" idx="12"/>
          </p:nvPr>
        </p:nvSpPr>
        <p:spPr/>
        <p:txBody>
          <a:bodyPr/>
          <a:lstStyle/>
          <a:p>
            <a:fld id="{D5DBFA6B-6BFA-499F-8D78-802DDEC96E8C}" type="slidenum">
              <a:rPr lang="en-IN" smtClean="0"/>
              <a:t>21</a:t>
            </a:fld>
            <a:endParaRPr lang="en-IN"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TotalTime>
  <Words>2374</Words>
  <Application>Microsoft Office PowerPoint</Application>
  <PresentationFormat>Widescreen</PresentationFormat>
  <Paragraphs>155</Paragraphs>
  <Slides>21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Calibri Light</vt:lpstr>
      <vt:lpstr>Times New Roman</vt:lpstr>
      <vt:lpstr>Office Theme</vt:lpstr>
      <vt:lpstr>Multi-Objective Lightweight Specialized Language Models</vt:lpstr>
      <vt:lpstr>Contents</vt:lpstr>
      <vt:lpstr>Abstract </vt:lpstr>
      <vt:lpstr>Introduction</vt:lpstr>
      <vt:lpstr>Literature Survey</vt:lpstr>
      <vt:lpstr>Literature Survey</vt:lpstr>
      <vt:lpstr>Literature Survey</vt:lpstr>
      <vt:lpstr>Literature Survey</vt:lpstr>
      <vt:lpstr>Literature Survey</vt:lpstr>
      <vt:lpstr>Problem Statement</vt:lpstr>
      <vt:lpstr>Objectives</vt:lpstr>
      <vt:lpstr>Models: BERT-Tiny</vt:lpstr>
      <vt:lpstr>Models: Pruning Technique</vt:lpstr>
      <vt:lpstr>Models: Quantization Technique</vt:lpstr>
      <vt:lpstr>Experimental Setup</vt:lpstr>
      <vt:lpstr>Results</vt:lpstr>
      <vt:lpstr>Results: Comparison Table</vt:lpstr>
      <vt:lpstr>PowerPoint Presentation</vt:lpstr>
      <vt:lpstr>Conclusions and Future Work</vt:lpstr>
      <vt:lpstr>References</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Text Summarization of Medical Documents using Abstractive Techniques</dc:title>
  <dc:creator>Lalitha Evani</dc:creator>
  <cp:lastModifiedBy>orange rog</cp:lastModifiedBy>
  <cp:revision>43</cp:revision>
  <dcterms:created xsi:type="dcterms:W3CDTF">2026-03-23T06:26:16Z</dcterms:created>
  <dcterms:modified xsi:type="dcterms:W3CDTF">2026-04-10T06:00:00Z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A52792F6B82245B1A8CB773F5277356B_13</vt:lpwstr>
  </property>
  <property fmtid="{D5CDD505-2E9C-101B-9397-08002B2CF9AE}" pid="3" name="KSOProductBuildVer">
    <vt:lpwstr>1033-12.2.0.23196</vt:lpwstr>
  </property>
</Properties>
</file>